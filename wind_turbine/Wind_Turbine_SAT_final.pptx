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E33"/>
                </a:solidFill>
                <a:latin typeface="Cambria"/>
              </a:defRPr>
            </a:pPr>
            <a:r>
              <a:rPr sz="1200" b="0" i="0" u="none" strike="noStrike">
                <a:solidFill>
                  <a:srgbClr val="0B2E33"/>
                </a:solidFill>
                <a:latin typeface="Cambria"/>
              </a:rPr>
              <a:t>Bus voltage against rotor speed</a:t>
            </a:r>
          </a:p>
        </c:rich>
      </c:tx>
      <c:layout/>
      <c:overlay val="0"/>
    </c:title>
    <c:autoTitleDeleted val="0"/>
    <c:plotArea>
      <c:layout/>
      <c:lineChart>
        <c:varyColors val="0"/>
        <c:ser>
          <c:idx val="0"/>
          <c:order val="0"/>
          <c:tx>
            <c:strRef>
              <c:f>Sheet1!$B$1</c:f>
              <c:strCache>
                <c:ptCount val="1"/>
                <c:pt idx="0">
                  <c:v>Predicted</c:v>
                </c:pt>
              </c:strCache>
            </c:strRef>
          </c:tx>
          <c:spPr>
            <a:solidFill>
              <a:srgbClr val="02C39A"/>
            </a:solidFill>
            <a:ln w="25400" cap="flat">
              <a:solidFill>
                <a:srgbClr val="02C3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C39A"/>
              </a:solidFill>
              <a:ln w="9525" cap="flat">
                <a:solidFill>
                  <a:srgbClr val="02C39A"/>
                </a:solidFill>
                <a:prstDash val="solid"/>
                <a:round/>
              </a:ln>
              <a:effectLst/>
            </c:spPr>
          </c:marker>
          <c:cat>
            <c:multiLvlStrRef>
              <c:f>Sheet1!$A$2:$A$7</c:f>
              <c:multiLvlStrCache>
                <c:ptCount val="6"/>
                <c:lvl>
                  <c:pt idx="0">
                    <c:v>100</c:v>
                  </c:pt>
                  <c:pt idx="1">
                    <c:v>200</c:v>
                  </c:pt>
                  <c:pt idx="2">
                    <c:v>300</c:v>
                  </c:pt>
                  <c:pt idx="3">
                    <c:v>400</c:v>
                  </c:pt>
                  <c:pt idx="4">
                    <c:v>480</c:v>
                  </c:pt>
                  <c:pt idx="5">
                    <c:v>560</c:v>
                  </c:pt>
                </c:lvl>
              </c:multiLvlStrCache>
            </c:multiLvlStrRef>
          </c:cat>
          <c:val>
            <c:numRef>
              <c:f>Sheet1!$B$2:$B$7</c:f>
              <c:numCache>
                <c:formatCode>General</c:formatCode>
                <c:ptCount val="6"/>
                <c:pt idx="0">
                  <c:v>2.6</c:v>
                </c:pt>
                <c:pt idx="1">
                  <c:v>5.3</c:v>
                </c:pt>
                <c:pt idx="2">
                  <c:v>7.9</c:v>
                </c:pt>
                <c:pt idx="3">
                  <c:v>10.6</c:v>
                </c:pt>
                <c:pt idx="4">
                  <c:v>12.7</c:v>
                </c:pt>
                <c:pt idx="5">
                  <c:v>14.8</c:v>
                </c:pt>
              </c:numCache>
            </c:numRef>
          </c:val>
          <c:smooth val="0"/>
        </c:ser>
        <c:ser>
          <c:idx val="1"/>
          <c:order val="1"/>
          <c:tx>
            <c:strRef>
              <c:f>Sheet1!$C$1</c:f>
              <c:strCache>
                <c:ptCount val="1"/>
                <c:pt idx="0">
                  <c:v>Measured on the bench</c:v>
                </c:pt>
              </c:strCache>
            </c:strRef>
          </c:tx>
          <c:spPr>
            <a:solidFill>
              <a:srgbClr val="028090"/>
            </a:solidFill>
            <a:ln w="25400"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8090"/>
              </a:solidFill>
              <a:ln w="9525" cap="flat">
                <a:solidFill>
                  <a:srgbClr val="028090"/>
                </a:solidFill>
                <a:prstDash val="solid"/>
                <a:round/>
              </a:ln>
              <a:effectLst/>
            </c:spPr>
          </c:marker>
          <c:cat>
            <c:multiLvlStrRef>
              <c:f>Sheet1!$A$2:$A$7</c:f>
              <c:multiLvlStrCache>
                <c:ptCount val="6"/>
                <c:lvl>
                  <c:pt idx="0">
                    <c:v>100</c:v>
                  </c:pt>
                  <c:pt idx="1">
                    <c:v>200</c:v>
                  </c:pt>
                  <c:pt idx="2">
                    <c:v>300</c:v>
                  </c:pt>
                  <c:pt idx="3">
                    <c:v>400</c:v>
                  </c:pt>
                  <c:pt idx="4">
                    <c:v>480</c:v>
                  </c:pt>
                  <c:pt idx="5">
                    <c:v>560</c:v>
                  </c:pt>
                </c:lvl>
              </c:multiLvlStrCache>
            </c:multiLvlStrRef>
          </c:cat>
          <c:val>
            <c:numRef>
              <c:f>Sheet1!$C$2:$C$7</c:f>
              <c:numCache>
                <c:formatCode>General</c:formatCode>
                <c:ptCount val="6"/>
                <c:pt idx="0">
                  <c:v>2.2</c:v>
                </c:pt>
                <c:pt idx="1">
                  <c:v>4.9</c:v>
                </c:pt>
                <c:pt idx="2">
                  <c:v>7.4</c:v>
                </c:pt>
                <c:pt idx="3">
                  <c:v>10.1</c:v>
                </c:pt>
                <c:pt idx="4">
                  <c:v>12.6</c:v>
                </c:pt>
                <c:pt idx="5">
                  <c:v>14.2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7370"/>
                    </a:solidFill>
                    <a:latin typeface="Arial"/>
                  </a:defRPr>
                </a:pPr>
                <a:r>
                  <a:rPr sz="900" b="0" i="0" u="none" strike="noStrike">
                    <a:solidFill>
                      <a:srgbClr val="5B7370"/>
                    </a:solidFill>
                    <a:latin typeface="Arial"/>
                  </a:rPr>
                  <a:t>Rotor speed (rpm)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370"/>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12700" cap="flat">
              <a:solidFill>
                <a:srgbClr val="DDE6E4"/>
              </a:solidFill>
              <a:prstDash val="solid"/>
              <a:round/>
            </a:ln>
          </c:spPr>
        </c:majorGridlines>
        <c:title>
          <c:tx>
            <c:rich>
              <a:bodyPr/>
              <a:lstStyle/>
              <a:p>
                <a:pPr>
                  <a:defRPr sz="900" b="0" i="0" u="none" strike="noStrike">
                    <a:solidFill>
                      <a:srgbClr val="5B7370"/>
                    </a:solidFill>
                    <a:latin typeface="Arial"/>
                  </a:defRPr>
                </a:pPr>
                <a:r>
                  <a:rPr sz="900" b="0" i="0" u="none" strike="noStrike">
                    <a:solidFill>
                      <a:srgbClr val="5B7370"/>
                    </a:solidFill>
                    <a:latin typeface="Arial"/>
                  </a:rPr>
                  <a:t>DC bus voltage (V)</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3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B737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p:bgPr>
    </p:bg>
    <p:spTree>
      <p:nvGrpSpPr>
        <p:cNvPr id="1" name=""/>
        <p:cNvGrpSpPr/>
        <p:nvPr/>
      </p:nvGrpSpPr>
      <p:grpSpPr>
        <a:xfrm>
          <a:off x="0" y="0"/>
          <a:ext cx="0" cy="0"/>
          <a:chOff x="0" y="0"/>
          <a:chExt cx="0" cy="0"/>
        </a:xfrm>
      </p:grpSpPr>
      <p:pic>
        <p:nvPicPr>
          <p:cNvPr id="2" name="Image 0" descr="images/turbine_mark.png">    </p:cNvPr>
          <p:cNvPicPr>
            <a:picLocks noChangeAspect="1"/>
          </p:cNvPicPr>
          <p:nvPr/>
        </p:nvPicPr>
        <p:blipFill>
          <a:blip r:embed="rId1"/>
          <a:stretch>
            <a:fillRect/>
          </a:stretch>
        </p:blipFill>
        <p:spPr>
          <a:xfrm>
            <a:off x="8732520" y="1234440"/>
            <a:ext cx="2651760" cy="4069080"/>
          </a:xfrm>
          <a:prstGeom prst="rect">
            <a:avLst/>
          </a:prstGeom>
        </p:spPr>
      </p:pic>
      <p:sp>
        <p:nvSpPr>
          <p:cNvPr id="3" name="Text 0"/>
          <p:cNvSpPr/>
          <p:nvPr/>
        </p:nvSpPr>
        <p:spPr>
          <a:xfrm>
            <a:off x="685800" y="1874520"/>
            <a:ext cx="7680960" cy="1737360"/>
          </a:xfrm>
          <a:prstGeom prst="rect">
            <a:avLst/>
          </a:prstGeom>
          <a:noFill/>
          <a:ln/>
        </p:spPr>
        <p:txBody>
          <a:bodyPr wrap="square" lIns="0" tIns="0" rIns="0" bIns="0" rtlCol="0" anchor="b"/>
          <a:lstStyle/>
          <a:p>
            <a:pPr indent="0" marL="0">
              <a:lnSpc>
                <a:spcPts val="4400"/>
              </a:lnSpc>
              <a:buNone/>
            </a:pPr>
            <a:r>
              <a:rPr lang="en-US" sz="4200" b="1" dirty="0">
                <a:solidFill>
                  <a:srgbClr val="FFFFFF"/>
                </a:solidFill>
                <a:latin typeface="Cambria" pitchFamily="34" charset="0"/>
                <a:ea typeface="Cambria" pitchFamily="34" charset="-122"/>
                <a:cs typeface="Cambria" pitchFamily="34" charset="-120"/>
              </a:rPr>
              <a:t>SMALL-SCALE WIND</a:t>
            </a:r>
            <a:endParaRPr lang="en-US" sz="4200" dirty="0"/>
          </a:p>
          <a:p>
            <a:pPr indent="0" marL="0">
              <a:lnSpc>
                <a:spcPts val="4400"/>
              </a:lnSpc>
              <a:buNone/>
            </a:pPr>
            <a:r>
              <a:rPr lang="en-US" sz="4200" b="1" dirty="0">
                <a:solidFill>
                  <a:srgbClr val="FFFFFF"/>
                </a:solidFill>
                <a:latin typeface="Cambria" pitchFamily="34" charset="0"/>
                <a:ea typeface="Cambria" pitchFamily="34" charset="-122"/>
                <a:cs typeface="Cambria" pitchFamily="34" charset="-120"/>
              </a:rPr>
              <a:t>TURBINE GENERATOR</a:t>
            </a:r>
            <a:endParaRPr lang="en-US" sz="4200" dirty="0"/>
          </a:p>
        </p:txBody>
      </p:sp>
      <p:sp>
        <p:nvSpPr>
          <p:cNvPr id="4" name="Text 1"/>
          <p:cNvSpPr/>
          <p:nvPr/>
        </p:nvSpPr>
        <p:spPr>
          <a:xfrm>
            <a:off x="685800" y="3703320"/>
            <a:ext cx="7589520" cy="822960"/>
          </a:xfrm>
          <a:prstGeom prst="rect">
            <a:avLst/>
          </a:prstGeom>
          <a:noFill/>
          <a:ln/>
        </p:spPr>
        <p:txBody>
          <a:bodyPr wrap="square" lIns="0" tIns="0" rIns="0" bIns="0" rtlCol="0" anchor="ctr"/>
          <a:lstStyle/>
          <a:p>
            <a:pPr indent="0" marL="0">
              <a:buNone/>
            </a:pPr>
            <a:r>
              <a:rPr lang="en-US" sz="1500" dirty="0">
                <a:solidFill>
                  <a:srgbClr val="CFE8E5"/>
                </a:solidFill>
                <a:latin typeface="Calibri" pitchFamily="34" charset="0"/>
                <a:ea typeface="Calibri" pitchFamily="34" charset="-122"/>
                <a:cs typeface="Calibri" pitchFamily="34" charset="-120"/>
              </a:rPr>
              <a:t>An integrated and controlled system that pairs a mechanical gear train with an electronic controller, so the electricity it generates is stored, used, or safely shed.</a:t>
            </a:r>
            <a:endParaRPr lang="en-US" sz="1500" dirty="0"/>
          </a:p>
        </p:txBody>
      </p:sp>
      <p:sp>
        <p:nvSpPr>
          <p:cNvPr id="5" name="Text 2"/>
          <p:cNvSpPr/>
          <p:nvPr/>
        </p:nvSpPr>
        <p:spPr>
          <a:xfrm>
            <a:off x="685800" y="5870448"/>
            <a:ext cx="8229600" cy="320040"/>
          </a:xfrm>
          <a:prstGeom prst="rect">
            <a:avLst/>
          </a:prstGeom>
          <a:noFill/>
          <a:ln/>
        </p:spPr>
        <p:txBody>
          <a:bodyPr wrap="square" lIns="0" tIns="0" rIns="0" bIns="0" rtlCol="0" anchor="ctr"/>
          <a:lstStyle/>
          <a:p>
            <a:pPr indent="0" marL="0">
              <a:buNone/>
            </a:pPr>
            <a:r>
              <a:rPr lang="en-US" sz="1200" b="1" spc="120" kern="0" dirty="0">
                <a:solidFill>
                  <a:srgbClr val="02C39A"/>
                </a:solidFill>
                <a:latin typeface="Calibri" pitchFamily="34" charset="0"/>
                <a:ea typeface="Calibri" pitchFamily="34" charset="-122"/>
                <a:cs typeface="Calibri" pitchFamily="34" charset="-120"/>
              </a:rPr>
              <a:t>VCE SYSTEMS ENGINEERING  |  SCHOOL-ASSESSED TASK 2026</a:t>
            </a:r>
            <a:endParaRPr lang="en-US" sz="1200" dirty="0"/>
          </a:p>
        </p:txBody>
      </p:sp>
      <p:sp>
        <p:nvSpPr>
          <p:cNvPr id="6" name="Text 3"/>
          <p:cNvSpPr/>
          <p:nvPr/>
        </p:nvSpPr>
        <p:spPr>
          <a:xfrm>
            <a:off x="685800" y="6217920"/>
            <a:ext cx="8229600" cy="292608"/>
          </a:xfrm>
          <a:prstGeom prst="rect">
            <a:avLst/>
          </a:prstGeom>
          <a:noFill/>
          <a:ln/>
        </p:spPr>
        <p:txBody>
          <a:bodyPr wrap="square" lIns="0" tIns="0" rIns="0" bIns="0" rtlCol="0" anchor="ctr"/>
          <a:lstStyle/>
          <a:p>
            <a:pPr indent="0" marL="0">
              <a:buNone/>
            </a:pPr>
            <a:r>
              <a:rPr lang="en-US" sz="1200" dirty="0">
                <a:solidFill>
                  <a:srgbClr val="9FC6C2"/>
                </a:solidFill>
                <a:latin typeface="Calibri" pitchFamily="34" charset="0"/>
                <a:ea typeface="Calibri" pitchFamily="34" charset="-122"/>
                <a:cs typeface="Calibri" pitchFamily="34" charset="-120"/>
              </a:rPr>
              <a:t>Sifan  |  Unit 3 and 4 Systems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The problem and the ethical consideration</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1  |  INVESTIGATING AND DEFINING A PROBLEM</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54480"/>
            <a:ext cx="7406640" cy="4709160"/>
          </a:xfrm>
          <a:prstGeom prst="rect">
            <a:avLst/>
          </a:prstGeom>
          <a:solidFill>
            <a:srgbClr val="FFFFFF"/>
          </a:solidFill>
          <a:ln w="12700">
            <a:solidFill>
              <a:srgbClr val="DDE6E4"/>
            </a:solidFill>
            <a:prstDash val="solid"/>
          </a:ln>
        </p:spPr>
      </p:sp>
      <p:sp>
        <p:nvSpPr>
          <p:cNvPr id="7" name="Shape 5"/>
          <p:cNvSpPr/>
          <p:nvPr/>
        </p:nvSpPr>
        <p:spPr>
          <a:xfrm>
            <a:off x="786384" y="1810512"/>
            <a:ext cx="329184" cy="329184"/>
          </a:xfrm>
          <a:prstGeom prst="ellipse">
            <a:avLst/>
          </a:prstGeom>
          <a:solidFill>
            <a:srgbClr val="028090"/>
          </a:solidFill>
          <a:ln w="12700">
            <a:solidFill>
              <a:srgbClr val="028090"/>
            </a:solidFill>
            <a:prstDash val="solid"/>
          </a:ln>
        </p:spPr>
      </p:sp>
      <p:sp>
        <p:nvSpPr>
          <p:cNvPr id="8" name="Text 6"/>
          <p:cNvSpPr/>
          <p:nvPr/>
        </p:nvSpPr>
        <p:spPr>
          <a:xfrm>
            <a:off x="786384"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43584" y="1773936"/>
            <a:ext cx="6492240"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The problem this system responds to</a:t>
            </a:r>
            <a:endParaRPr lang="en-US" sz="1400" dirty="0"/>
          </a:p>
        </p:txBody>
      </p:sp>
      <p:sp>
        <p:nvSpPr>
          <p:cNvPr id="10" name="Text 8"/>
          <p:cNvSpPr/>
          <p:nvPr/>
        </p:nvSpPr>
        <p:spPr>
          <a:xfrm>
            <a:off x="804672" y="2121408"/>
            <a:ext cx="6903720" cy="1188720"/>
          </a:xfrm>
          <a:prstGeom prst="rect">
            <a:avLst/>
          </a:prstGeom>
          <a:noFill/>
          <a:ln/>
        </p:spPr>
        <p:txBody>
          <a:bodyPr wrap="square" lIns="0" tIns="0" rIns="0" bIns="0" rtlCol="0" anchor="t"/>
          <a:lstStyle/>
          <a:p>
            <a:pPr indent="0" marL="0">
              <a:buNone/>
            </a:pPr>
            <a:r>
              <a:rPr lang="en-US" sz="1250" dirty="0">
                <a:solidFill>
                  <a:srgbClr val="16302E"/>
                </a:solidFill>
                <a:latin typeface="Calibri" pitchFamily="34" charset="0"/>
                <a:ea typeface="Calibri" pitchFamily="34" charset="-122"/>
                <a:cs typeface="Calibri" pitchFamily="34" charset="-120"/>
              </a:rPr>
              <a:t>Rural blocks and outer-suburban properties in Victoria often sit on land with steady wind, yet almost all of the wind generation in Australia is locked up in commercial wind farms. A household that wants to offset part of its own consumption has no realistic small-scale option: packaged micro-turbines are expensive, and a bare generator on a pole produces electricity that nobody can control or store safely.</a:t>
            </a:r>
            <a:endParaRPr lang="en-US" sz="1250" dirty="0"/>
          </a:p>
        </p:txBody>
      </p:sp>
      <p:sp>
        <p:nvSpPr>
          <p:cNvPr id="11" name="Shape 9"/>
          <p:cNvSpPr/>
          <p:nvPr/>
        </p:nvSpPr>
        <p:spPr>
          <a:xfrm>
            <a:off x="786384" y="3456432"/>
            <a:ext cx="329184" cy="329184"/>
          </a:xfrm>
          <a:prstGeom prst="ellipse">
            <a:avLst/>
          </a:prstGeom>
          <a:solidFill>
            <a:srgbClr val="028090"/>
          </a:solidFill>
          <a:ln w="12700">
            <a:solidFill>
              <a:srgbClr val="028090"/>
            </a:solidFill>
            <a:prstDash val="solid"/>
          </a:ln>
        </p:spPr>
      </p:sp>
      <p:sp>
        <p:nvSpPr>
          <p:cNvPr id="12" name="Text 10"/>
          <p:cNvSpPr/>
          <p:nvPr/>
        </p:nvSpPr>
        <p:spPr>
          <a:xfrm>
            <a:off x="786384"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243584" y="3419856"/>
            <a:ext cx="6492240"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Ethical consideration: environmental sustainability</a:t>
            </a:r>
            <a:endParaRPr lang="en-US" sz="1400" dirty="0"/>
          </a:p>
        </p:txBody>
      </p:sp>
      <p:sp>
        <p:nvSpPr>
          <p:cNvPr id="14" name="Text 12"/>
          <p:cNvSpPr/>
          <p:nvPr/>
        </p:nvSpPr>
        <p:spPr>
          <a:xfrm>
            <a:off x="804672" y="3877056"/>
            <a:ext cx="6903720" cy="960120"/>
          </a:xfrm>
          <a:prstGeom prst="rect">
            <a:avLst/>
          </a:prstGeom>
          <a:noFill/>
          <a:ln/>
        </p:spPr>
        <p:txBody>
          <a:bodyPr wrap="square" lIns="0" tIns="0" rIns="0" bIns="0" rtlCol="0" anchor="t"/>
          <a:lstStyle/>
          <a:p>
            <a:pPr indent="0" marL="0">
              <a:buNone/>
            </a:pPr>
            <a:r>
              <a:rPr lang="en-US" sz="1250" dirty="0">
                <a:solidFill>
                  <a:srgbClr val="16302E"/>
                </a:solidFill>
                <a:latin typeface="Calibri" pitchFamily="34" charset="0"/>
                <a:ea typeface="Calibri" pitchFamily="34" charset="-122"/>
                <a:cs typeface="Calibri" pitchFamily="34" charset="-120"/>
              </a:rPr>
              <a:t>Generating electricity from wind instead of fossil fuel reduces the carbon released for every kilowatt hour a household uses. The obligation is not only to generate cleanly, though. A system that wastes materials, cannot be repaired, or ends up in landfill after a season shifts the harm rather than removing it. This design is therefore judged on three sustainability grounds at once:</a:t>
            </a:r>
            <a:endParaRPr lang="en-US" sz="1250" dirty="0"/>
          </a:p>
        </p:txBody>
      </p:sp>
      <p:sp>
        <p:nvSpPr>
          <p:cNvPr id="15" name="Text 13"/>
          <p:cNvSpPr/>
          <p:nvPr/>
        </p:nvSpPr>
        <p:spPr>
          <a:xfrm>
            <a:off x="914400" y="4892040"/>
            <a:ext cx="6766560" cy="12801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Clean generation: displaces grid electricity that is still partly fossil fuelled</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Low-waste manufacture: printed parts, standard fasteners, no adhesives that block repair</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Controlled use: surplus is stored or shed deliberately, never dumped into an unprotected battery</a:t>
            </a:r>
            <a:endParaRPr lang="en-US" sz="1150" dirty="0"/>
          </a:p>
        </p:txBody>
      </p:sp>
      <p:sp>
        <p:nvSpPr>
          <p:cNvPr id="16" name="Text 14"/>
          <p:cNvSpPr/>
          <p:nvPr/>
        </p:nvSpPr>
        <p:spPr>
          <a:xfrm>
            <a:off x="8275320" y="1627632"/>
            <a:ext cx="3364992" cy="621792"/>
          </a:xfrm>
          <a:prstGeom prst="rect">
            <a:avLst/>
          </a:prstGeom>
          <a:noFill/>
          <a:ln/>
        </p:spPr>
        <p:txBody>
          <a:bodyPr wrap="square" lIns="0" tIns="0" rIns="0" bIns="0" rtlCol="0" anchor="ctr"/>
          <a:lstStyle/>
          <a:p>
            <a:pPr indent="0" marL="0">
              <a:buNone/>
            </a:pPr>
            <a:r>
              <a:rPr lang="en-US" sz="3400" b="1" dirty="0">
                <a:solidFill>
                  <a:srgbClr val="028090"/>
                </a:solidFill>
                <a:latin typeface="Cambria" pitchFamily="34" charset="0"/>
                <a:ea typeface="Cambria" pitchFamily="34" charset="-122"/>
                <a:cs typeface="Cambria" pitchFamily="34" charset="-120"/>
              </a:rPr>
              <a:t>Close to 40%</a:t>
            </a:r>
            <a:endParaRPr lang="en-US" sz="3400" dirty="0"/>
          </a:p>
        </p:txBody>
      </p:sp>
      <p:sp>
        <p:nvSpPr>
          <p:cNvPr id="17" name="Text 15"/>
          <p:cNvSpPr/>
          <p:nvPr/>
        </p:nvSpPr>
        <p:spPr>
          <a:xfrm>
            <a:off x="8275320" y="2249424"/>
            <a:ext cx="3291840" cy="685800"/>
          </a:xfrm>
          <a:prstGeom prst="rect">
            <a:avLst/>
          </a:prstGeom>
          <a:noFill/>
          <a:ln/>
        </p:spPr>
        <p:txBody>
          <a:bodyPr wrap="square" lIns="0" tIns="0" rIns="0" bIns="0" rtlCol="0" anchor="t"/>
          <a:lstStyle/>
          <a:p>
            <a:pPr indent="0" marL="0">
              <a:buNone/>
            </a:pPr>
            <a:r>
              <a:rPr lang="en-US" sz="1100" dirty="0">
                <a:solidFill>
                  <a:srgbClr val="5B7370"/>
                </a:solidFill>
                <a:latin typeface="Calibri" pitchFamily="34" charset="0"/>
                <a:ea typeface="Calibri" pitchFamily="34" charset="-122"/>
                <a:cs typeface="Calibri" pitchFamily="34" charset="-120"/>
              </a:rPr>
              <a:t>of Australia's electricity came from renewable sources in 2023 (Clean Energy Council, 2024)</a:t>
            </a:r>
            <a:endParaRPr lang="en-US" sz="1100" dirty="0"/>
          </a:p>
        </p:txBody>
      </p:sp>
      <p:sp>
        <p:nvSpPr>
          <p:cNvPr id="18" name="Shape 16"/>
          <p:cNvSpPr/>
          <p:nvPr/>
        </p:nvSpPr>
        <p:spPr>
          <a:xfrm>
            <a:off x="8275320" y="2999232"/>
            <a:ext cx="3364992" cy="10973"/>
          </a:xfrm>
          <a:prstGeom prst="rect">
            <a:avLst/>
          </a:prstGeom>
          <a:solidFill>
            <a:srgbClr val="DDE6E4"/>
          </a:solidFill>
          <a:ln w="12700">
            <a:solidFill>
              <a:srgbClr val="DDE6E4"/>
            </a:solidFill>
            <a:prstDash val="solid"/>
          </a:ln>
        </p:spPr>
      </p:sp>
      <p:sp>
        <p:nvSpPr>
          <p:cNvPr id="19" name="Text 17"/>
          <p:cNvSpPr/>
          <p:nvPr/>
        </p:nvSpPr>
        <p:spPr>
          <a:xfrm>
            <a:off x="8275320" y="3200400"/>
            <a:ext cx="3364992" cy="621792"/>
          </a:xfrm>
          <a:prstGeom prst="rect">
            <a:avLst/>
          </a:prstGeom>
          <a:noFill/>
          <a:ln/>
        </p:spPr>
        <p:txBody>
          <a:bodyPr wrap="square" lIns="0" tIns="0" rIns="0" bIns="0" rtlCol="0" anchor="ctr"/>
          <a:lstStyle/>
          <a:p>
            <a:pPr indent="0" marL="0">
              <a:buNone/>
            </a:pPr>
            <a:r>
              <a:rPr lang="en-US" sz="3400" b="1" dirty="0">
                <a:solidFill>
                  <a:srgbClr val="028090"/>
                </a:solidFill>
                <a:latin typeface="Cambria" pitchFamily="34" charset="0"/>
                <a:ea typeface="Cambria" pitchFamily="34" charset="-122"/>
                <a:cs typeface="Cambria" pitchFamily="34" charset="-120"/>
              </a:rPr>
              <a:t>25 W</a:t>
            </a:r>
            <a:endParaRPr lang="en-US" sz="3400" dirty="0"/>
          </a:p>
        </p:txBody>
      </p:sp>
      <p:sp>
        <p:nvSpPr>
          <p:cNvPr id="20" name="Text 18"/>
          <p:cNvSpPr/>
          <p:nvPr/>
        </p:nvSpPr>
        <p:spPr>
          <a:xfrm>
            <a:off x="8275320" y="3822192"/>
            <a:ext cx="3291840" cy="685800"/>
          </a:xfrm>
          <a:prstGeom prst="rect">
            <a:avLst/>
          </a:prstGeom>
          <a:noFill/>
          <a:ln/>
        </p:spPr>
        <p:txBody>
          <a:bodyPr wrap="square" lIns="0" tIns="0" rIns="0" bIns="0" rtlCol="0" anchor="t"/>
          <a:lstStyle/>
          <a:p>
            <a:pPr indent="0" marL="0">
              <a:buNone/>
            </a:pPr>
            <a:r>
              <a:rPr lang="en-US" sz="1100" dirty="0">
                <a:solidFill>
                  <a:srgbClr val="5B7370"/>
                </a:solidFill>
                <a:latin typeface="Calibri" pitchFamily="34" charset="0"/>
                <a:ea typeface="Calibri" pitchFamily="34" charset="-122"/>
                <a:cs typeface="Calibri" pitchFamily="34" charset="-120"/>
              </a:rPr>
              <a:t>target electrical output from this system in a 6 m/s wind</a:t>
            </a:r>
            <a:endParaRPr lang="en-US" sz="1100" dirty="0"/>
          </a:p>
        </p:txBody>
      </p:sp>
      <p:sp>
        <p:nvSpPr>
          <p:cNvPr id="21" name="Shape 19"/>
          <p:cNvSpPr/>
          <p:nvPr/>
        </p:nvSpPr>
        <p:spPr>
          <a:xfrm>
            <a:off x="8275320" y="4572000"/>
            <a:ext cx="3364992" cy="10973"/>
          </a:xfrm>
          <a:prstGeom prst="rect">
            <a:avLst/>
          </a:prstGeom>
          <a:solidFill>
            <a:srgbClr val="DDE6E4"/>
          </a:solidFill>
          <a:ln w="12700">
            <a:solidFill>
              <a:srgbClr val="DDE6E4"/>
            </a:solidFill>
            <a:prstDash val="solid"/>
          </a:ln>
        </p:spPr>
      </p:sp>
      <p:sp>
        <p:nvSpPr>
          <p:cNvPr id="22" name="Text 20"/>
          <p:cNvSpPr/>
          <p:nvPr/>
        </p:nvSpPr>
        <p:spPr>
          <a:xfrm>
            <a:off x="8275320" y="4773168"/>
            <a:ext cx="3364992" cy="621792"/>
          </a:xfrm>
          <a:prstGeom prst="rect">
            <a:avLst/>
          </a:prstGeom>
          <a:noFill/>
          <a:ln/>
        </p:spPr>
        <p:txBody>
          <a:bodyPr wrap="square" lIns="0" tIns="0" rIns="0" bIns="0" rtlCol="0" anchor="ctr"/>
          <a:lstStyle/>
          <a:p>
            <a:pPr indent="0" marL="0">
              <a:buNone/>
            </a:pPr>
            <a:r>
              <a:rPr lang="en-US" sz="3400" b="1" dirty="0">
                <a:solidFill>
                  <a:srgbClr val="028090"/>
                </a:solidFill>
                <a:latin typeface="Cambria" pitchFamily="34" charset="0"/>
                <a:ea typeface="Cambria" pitchFamily="34" charset="-122"/>
                <a:cs typeface="Cambria" pitchFamily="34" charset="-120"/>
              </a:rPr>
              <a:t>$180</a:t>
            </a:r>
            <a:endParaRPr lang="en-US" sz="3400" dirty="0"/>
          </a:p>
        </p:txBody>
      </p:sp>
      <p:sp>
        <p:nvSpPr>
          <p:cNvPr id="23" name="Text 21"/>
          <p:cNvSpPr/>
          <p:nvPr/>
        </p:nvSpPr>
        <p:spPr>
          <a:xfrm>
            <a:off x="8275320" y="5394960"/>
            <a:ext cx="3291840" cy="685800"/>
          </a:xfrm>
          <a:prstGeom prst="rect">
            <a:avLst/>
          </a:prstGeom>
          <a:noFill/>
          <a:ln/>
        </p:spPr>
        <p:txBody>
          <a:bodyPr wrap="square" lIns="0" tIns="0" rIns="0" bIns="0" rtlCol="0" anchor="t"/>
          <a:lstStyle/>
          <a:p>
            <a:pPr indent="0" marL="0">
              <a:buNone/>
            </a:pPr>
            <a:r>
              <a:rPr lang="en-US" sz="1100" dirty="0">
                <a:solidFill>
                  <a:srgbClr val="5B7370"/>
                </a:solidFill>
                <a:latin typeface="Calibri" pitchFamily="34" charset="0"/>
                <a:ea typeface="Calibri" pitchFamily="34" charset="-122"/>
                <a:cs typeface="Calibri" pitchFamily="34" charset="-120"/>
              </a:rPr>
              <a:t>budget ceiling for the whole build, so the design stays reproducible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Context, constraints and considerations</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1  |  INVESTIGATING AND DEFINING A PROBLEM</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554480"/>
            <a:ext cx="3538728" cy="4709160"/>
          </a:xfrm>
          <a:prstGeom prst="rect">
            <a:avLst/>
          </a:prstGeom>
          <a:solidFill>
            <a:srgbClr val="FFFFFF"/>
          </a:solidFill>
          <a:ln w="12700">
            <a:solidFill>
              <a:srgbClr val="DDE6E4"/>
            </a:solidFill>
            <a:prstDash val="solid"/>
          </a:ln>
        </p:spPr>
      </p:sp>
      <p:sp>
        <p:nvSpPr>
          <p:cNvPr id="7" name="Shape 5"/>
          <p:cNvSpPr/>
          <p:nvPr/>
        </p:nvSpPr>
        <p:spPr>
          <a:xfrm>
            <a:off x="786384" y="1810512"/>
            <a:ext cx="329184" cy="329184"/>
          </a:xfrm>
          <a:prstGeom prst="ellipse">
            <a:avLst/>
          </a:prstGeom>
          <a:solidFill>
            <a:srgbClr val="028090"/>
          </a:solidFill>
          <a:ln w="12700">
            <a:solidFill>
              <a:srgbClr val="028090"/>
            </a:solidFill>
            <a:prstDash val="solid"/>
          </a:ln>
        </p:spPr>
      </p:sp>
      <p:sp>
        <p:nvSpPr>
          <p:cNvPr id="8" name="Text 6"/>
          <p:cNvSpPr/>
          <p:nvPr/>
        </p:nvSpPr>
        <p:spPr>
          <a:xfrm>
            <a:off x="786384"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43584" y="1773936"/>
            <a:ext cx="262432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Context</a:t>
            </a:r>
            <a:endParaRPr lang="en-US" sz="1400" dirty="0"/>
          </a:p>
        </p:txBody>
      </p:sp>
      <p:sp>
        <p:nvSpPr>
          <p:cNvPr id="10" name="Text 8"/>
          <p:cNvSpPr/>
          <p:nvPr/>
        </p:nvSpPr>
        <p:spPr>
          <a:xfrm>
            <a:off x="822960" y="2212848"/>
            <a:ext cx="3063240" cy="39319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A residential or rural block with open ground on at least one side and a mean wind speed near 5 to 6 m/s</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Mounted on a 3 m pole, clear of foot traffic, roof lines and overhanging trees</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Output feeds a 12 V battery bank, a low-power direct load, or a resistive dump load</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Operated by a household, not a technician, so nothing routine should require tools</a:t>
            </a:r>
            <a:endParaRPr lang="en-US" sz="1150" dirty="0"/>
          </a:p>
        </p:txBody>
      </p:sp>
      <p:sp>
        <p:nvSpPr>
          <p:cNvPr id="11" name="Shape 9"/>
          <p:cNvSpPr/>
          <p:nvPr/>
        </p:nvSpPr>
        <p:spPr>
          <a:xfrm>
            <a:off x="4325112" y="1554480"/>
            <a:ext cx="3538728" cy="4709160"/>
          </a:xfrm>
          <a:prstGeom prst="rect">
            <a:avLst/>
          </a:prstGeom>
          <a:solidFill>
            <a:srgbClr val="FFFFFF"/>
          </a:solidFill>
          <a:ln w="12700">
            <a:solidFill>
              <a:srgbClr val="DDE6E4"/>
            </a:solidFill>
            <a:prstDash val="solid"/>
          </a:ln>
        </p:spPr>
      </p:sp>
      <p:sp>
        <p:nvSpPr>
          <p:cNvPr id="12" name="Shape 10"/>
          <p:cNvSpPr/>
          <p:nvPr/>
        </p:nvSpPr>
        <p:spPr>
          <a:xfrm>
            <a:off x="4562856" y="1810512"/>
            <a:ext cx="329184" cy="329184"/>
          </a:xfrm>
          <a:prstGeom prst="ellipse">
            <a:avLst/>
          </a:prstGeom>
          <a:solidFill>
            <a:srgbClr val="028090"/>
          </a:solidFill>
          <a:ln w="12700">
            <a:solidFill>
              <a:srgbClr val="028090"/>
            </a:solidFill>
            <a:prstDash val="solid"/>
          </a:ln>
        </p:spPr>
      </p:sp>
      <p:sp>
        <p:nvSpPr>
          <p:cNvPr id="13" name="Text 11"/>
          <p:cNvSpPr/>
          <p:nvPr/>
        </p:nvSpPr>
        <p:spPr>
          <a:xfrm>
            <a:off x="4562856"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5020056" y="1773936"/>
            <a:ext cx="262432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Constraints</a:t>
            </a:r>
            <a:endParaRPr lang="en-US" sz="1400" dirty="0"/>
          </a:p>
        </p:txBody>
      </p:sp>
      <p:sp>
        <p:nvSpPr>
          <p:cNvPr id="15" name="Text 13"/>
          <p:cNvSpPr/>
          <p:nvPr/>
        </p:nvSpPr>
        <p:spPr>
          <a:xfrm>
            <a:off x="4599432" y="2212848"/>
            <a:ext cx="3063240" cy="39319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Total build cost must stay at or under $180</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Rotor diameter capped at 1.2 m by the mounting position and by what one person can lift</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Low-voltage DC only, no mains wiring, in line with AS/NZS 3000:2018</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Fabrication limited to the school workshop: 3D printing, hand tools and a drill press</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Ten teaching weeks from design freeze to evaluation</a:t>
            </a:r>
            <a:endParaRPr lang="en-US" sz="1150" dirty="0"/>
          </a:p>
        </p:txBody>
      </p:sp>
      <p:sp>
        <p:nvSpPr>
          <p:cNvPr id="16" name="Shape 14"/>
          <p:cNvSpPr/>
          <p:nvPr/>
        </p:nvSpPr>
        <p:spPr>
          <a:xfrm>
            <a:off x="8101584" y="1554480"/>
            <a:ext cx="3538728" cy="4709160"/>
          </a:xfrm>
          <a:prstGeom prst="rect">
            <a:avLst/>
          </a:prstGeom>
          <a:solidFill>
            <a:srgbClr val="FFFFFF"/>
          </a:solidFill>
          <a:ln w="12700">
            <a:solidFill>
              <a:srgbClr val="DDE6E4"/>
            </a:solidFill>
            <a:prstDash val="solid"/>
          </a:ln>
        </p:spPr>
      </p:sp>
      <p:sp>
        <p:nvSpPr>
          <p:cNvPr id="17" name="Shape 15"/>
          <p:cNvSpPr/>
          <p:nvPr/>
        </p:nvSpPr>
        <p:spPr>
          <a:xfrm>
            <a:off x="8339328" y="1810512"/>
            <a:ext cx="329184" cy="329184"/>
          </a:xfrm>
          <a:prstGeom prst="ellipse">
            <a:avLst/>
          </a:prstGeom>
          <a:solidFill>
            <a:srgbClr val="028090"/>
          </a:solidFill>
          <a:ln w="12700">
            <a:solidFill>
              <a:srgbClr val="028090"/>
            </a:solidFill>
            <a:prstDash val="solid"/>
          </a:ln>
        </p:spPr>
      </p:sp>
      <p:sp>
        <p:nvSpPr>
          <p:cNvPr id="18" name="Text 16"/>
          <p:cNvSpPr/>
          <p:nvPr/>
        </p:nvSpPr>
        <p:spPr>
          <a:xfrm>
            <a:off x="8339328"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8796528" y="1773936"/>
            <a:ext cx="262432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Considerations</a:t>
            </a:r>
            <a:endParaRPr lang="en-US" sz="1400" dirty="0"/>
          </a:p>
        </p:txBody>
      </p:sp>
      <p:sp>
        <p:nvSpPr>
          <p:cNvPr id="20" name="Text 18"/>
          <p:cNvSpPr/>
          <p:nvPr/>
        </p:nvSpPr>
        <p:spPr>
          <a:xfrm>
            <a:off x="8375904" y="2212848"/>
            <a:ext cx="3063240" cy="39319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Noise and vibration carried down the tower into the mount</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Weather ingress into the gearbox and the controller enclosure</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Overspeed in gusts, and over-voltage reaching the battery</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Recyclability of every printed part and of the battery at end of life</a:t>
            </a:r>
            <a:endParaRPr lang="en-US" sz="1150" dirty="0"/>
          </a:p>
          <a:p>
            <a:pPr marL="342900" indent="-342900">
              <a:spcAft>
                <a:spcPts val="800"/>
              </a:spcAft>
              <a:buSzPct val="100000"/>
              <a:buChar char="•"/>
            </a:pPr>
            <a:r>
              <a:rPr lang="en-US" sz="1150" dirty="0">
                <a:solidFill>
                  <a:srgbClr val="16302E"/>
                </a:solidFill>
                <a:latin typeface="Calibri" pitchFamily="34" charset="0"/>
                <a:ea typeface="Calibri" pitchFamily="34" charset="-122"/>
                <a:cs typeface="Calibri" pitchFamily="34" charset="-120"/>
              </a:rPr>
              <a:t>Ease of getting at the gear train for inspection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Research that shaped the design</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1  |  INVESTIGATING AND DEFINING A PROBLEM</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148840"/>
                <a:gridCol w="2606040"/>
                <a:gridCol w="3108960"/>
                <a:gridCol w="3227832"/>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was investigated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was learned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changed the design</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r>
              <a:tr h="1078992">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Bureau of Meteorology climate data for the site (2024)</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Mean and seasonal wind speed at 10 m, and how often the wind drops below 3 m/s</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The site averages roughly 5 to 6 m/s, but sits under 3 m/s for long stretches in summer</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Confirmed that a direct-drive rotor would spend most of the year below the generator's useful speed, so a step-up gear train is needed</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1078992">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Manwell, McGowan and Rogers (2009), Wind energy explained</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The relationship between rotor speed, wind speed and power capture</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A three-blade rotor works best at a tip speed ratio near 5, and power rises with the cube of wind speed</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Set the design point at 6 m/s and a tip speed ratio of 5, which fixes the rotor speed the gear train has to work from</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1078992">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Betz (1966) limit and published rotor efficiencies</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The maximum share of wind energy any rotor can convert</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No rotor exceeds 59.3 per cent, and a small printed rotor realistically reaches about 30 per cent</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Kept the output target at a defensible 25 W rather than an optimistic figure that testing would never meet</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1078992">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Safe Work Australia (2020) and AS/NZS 3000:2018</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How to rate and control the hazards of a rotating, electrically live outdoor build</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Risk must be controlled by the hierarchy of control, and low-voltage DC avoids the mains wiring rules entirely</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Locked the system to low-voltage DC, and made a guarded gearbox and a fused output non-negotiable</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Design brief and evaluation criteria</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1  |  INVESTIGATING AND DEFINING A PROBLEM</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517904"/>
            <a:ext cx="11091672" cy="1426464"/>
          </a:xfrm>
          <a:prstGeom prst="rect">
            <a:avLst/>
          </a:prstGeom>
          <a:solidFill>
            <a:srgbClr val="FFFFFF"/>
          </a:solidFill>
          <a:ln w="12700">
            <a:solidFill>
              <a:srgbClr val="DDE6E4"/>
            </a:solidFill>
            <a:prstDash val="solid"/>
          </a:ln>
        </p:spPr>
      </p:sp>
      <p:sp>
        <p:nvSpPr>
          <p:cNvPr id="7" name="Text 5"/>
          <p:cNvSpPr/>
          <p:nvPr/>
        </p:nvSpPr>
        <p:spPr>
          <a:xfrm>
            <a:off x="841248" y="1627632"/>
            <a:ext cx="5486400" cy="256032"/>
          </a:xfrm>
          <a:prstGeom prst="rect">
            <a:avLst/>
          </a:prstGeom>
          <a:noFill/>
          <a:ln/>
        </p:spPr>
        <p:txBody>
          <a:bodyPr wrap="square" lIns="0" tIns="0" rIns="0" bIns="0" rtlCol="0" anchor="ctr"/>
          <a:lstStyle/>
          <a:p>
            <a:pPr indent="0" marL="0">
              <a:buNone/>
            </a:pPr>
            <a:r>
              <a:rPr lang="en-US" sz="1000" b="1" spc="140" kern="0" dirty="0">
                <a:solidFill>
                  <a:srgbClr val="028090"/>
                </a:solidFill>
                <a:latin typeface="Calibri" pitchFamily="34" charset="0"/>
                <a:ea typeface="Calibri" pitchFamily="34" charset="-122"/>
                <a:cs typeface="Calibri" pitchFamily="34" charset="-120"/>
              </a:rPr>
              <a:t>DESIGN BRIEF</a:t>
            </a:r>
            <a:endParaRPr lang="en-US" sz="1000" dirty="0"/>
          </a:p>
        </p:txBody>
      </p:sp>
      <p:sp>
        <p:nvSpPr>
          <p:cNvPr id="8" name="Text 6"/>
          <p:cNvSpPr/>
          <p:nvPr/>
        </p:nvSpPr>
        <p:spPr>
          <a:xfrm>
            <a:off x="841248" y="1901952"/>
            <a:ext cx="10469880" cy="960120"/>
          </a:xfrm>
          <a:prstGeom prst="rect">
            <a:avLst/>
          </a:prstGeom>
          <a:noFill/>
          <a:ln/>
        </p:spPr>
        <p:txBody>
          <a:bodyPr wrap="square" lIns="0" tIns="0" rIns="0" bIns="0" rtlCol="0" anchor="t"/>
          <a:lstStyle/>
          <a:p>
            <a:pPr indent="0" marL="0">
              <a:buNone/>
            </a:pPr>
            <a:r>
              <a:rPr lang="en-US" sz="1250" i="1" dirty="0">
                <a:solidFill>
                  <a:srgbClr val="16302E"/>
                </a:solidFill>
                <a:latin typeface="Cambria" pitchFamily="34" charset="0"/>
                <a:ea typeface="Cambria" pitchFamily="34" charset="-122"/>
                <a:cs typeface="Cambria" pitchFamily="34" charset="-120"/>
              </a:rPr>
              <a:t>Design, produce and test a small-scale wind turbine generator for a residential or rural block. The system must convert wind into shaft rotation, step that rotation up through a gear train so a low-cost DC generator reaches a useful speed, and use an electronic controller to direct the electricity produced to battery storage, to a direct load, or to a dump load. It must be built for under $180 from low-impact, mostly recyclable materials, run entirely on low-voltage DC, and be safe for a household to operate.</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127248"/>
          <a:ext cx="11091672" cy="914400"/>
        </p:xfrm>
        <a:graphic>
          <a:graphicData uri="http://schemas.openxmlformats.org/drawingml/2006/table">
            <a:tbl>
              <a:tblPr/>
              <a:tblGrid>
                <a:gridCol w="548640"/>
                <a:gridCol w="3017520"/>
                <a:gridCol w="3291840"/>
                <a:gridCol w="4233672"/>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Evaluation criterion</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Measurable target</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will be tested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r>
              <a:tr h="384048">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EC1</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Generate a usable DC output in moderate wind</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At least 12 V open circuit at 6 m/s</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Multimeter across the DC bus while the rotor is driven at the design speed</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EC2</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Step the generator speed up mechanically</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Measured step-up ratio of 2.4 : 1, within 5 per cent</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Optical tachometer on both shafts, ten runs averaged</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EC3</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Direct the output to three destinations</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Battery, direct load and dump load each switch on demand</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Sweep the bus voltage and log which path carries current at each step</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EC4</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Protect the battery from overcharge</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Charging stops above 14.4 V and resumes below 13.2 V</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Bench supply on the sense input, record the switching thresholds</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EC5</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Be safe to operate and to build</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No reachable rotating part, no exposed conductor above 24 V, fused output</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Guard inspection against the risk register, plus a continuity and fuse check</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EC6</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Stay within budget</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Total build cost at or under $180</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Sum the final materials list against receipts</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EC7</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Use low-impact materials</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At least 70 per cent of parts recyclable or reusable</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00" dirty="0">
                          <a:solidFill>
                            <a:srgbClr val="16302E"/>
                          </a:solidFill>
                          <a:latin typeface="Calibri" pitchFamily="34" charset="0"/>
                          <a:ea typeface="Calibri" pitchFamily="34" charset="-122"/>
                          <a:cs typeface="Calibri" pitchFamily="34" charset="-120"/>
                        </a:rPr>
                        <a:t>Audit every line of the materials list by material type</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Mechanical subsystem: gear train options</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2  |  GENERATING AND DESIGNING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1920240"/>
                <a:gridCol w="3017520"/>
                <a:gridCol w="3108960"/>
                <a:gridCol w="3044952"/>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Option</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works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Strengths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Weaknesses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r>
              <a:tr h="1060704">
                <a:tc>
                  <a:txBody>
                    <a:bodyPr/>
                    <a:lstStyle/>
                    <a:p>
                      <a:pPr indent="0" marL="0">
                        <a:buNone/>
                      </a:pPr>
                      <a:r>
                        <a:rPr lang="en-US" sz="1050" b="1" dirty="0">
                          <a:solidFill>
                            <a:srgbClr val="16302E"/>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p>
                      <a:pPr indent="0" marL="0">
                        <a:buNone/>
                      </a:pPr>
                      <a:r>
                        <a:rPr lang="en-US" sz="1050" b="1" dirty="0">
                          <a:solidFill>
                            <a:srgbClr val="16302E"/>
                          </a:solidFill>
                          <a:latin typeface="Calibri" pitchFamily="34" charset="0"/>
                          <a:ea typeface="Calibri" pitchFamily="34" charset="-122"/>
                          <a:cs typeface="Calibri" pitchFamily="34" charset="-120"/>
                        </a:rPr>
                        <a:t>Direct drive</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The blade shaft couples straight onto the generator, with no gearing between them.</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Fewest moving parts, no gear friction, nothing to align, quietest of the three</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At the design wind speed the rotor turns near 480 rpm, well under the speed this generator needs for a useful voltage</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1060704">
                <a:tc>
                  <a:txBody>
                    <a:bodyPr/>
                    <a:lstStyle/>
                    <a:p>
                      <a:pPr indent="0" marL="0">
                        <a:buNone/>
                      </a:pPr>
                      <a:r>
                        <a:rPr lang="en-US" sz="1050" b="1" dirty="0">
                          <a:solidFill>
                            <a:srgbClr val="16302E"/>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p>
                      <a:pPr indent="0" marL="0">
                        <a:buNone/>
                      </a:pPr>
                      <a:r>
                        <a:rPr lang="en-US" sz="1050" b="1" dirty="0">
                          <a:solidFill>
                            <a:srgbClr val="16302E"/>
                          </a:solidFill>
                          <a:latin typeface="Calibri" pitchFamily="34" charset="0"/>
                          <a:ea typeface="Calibri" pitchFamily="34" charset="-122"/>
                          <a:cs typeface="Calibri" pitchFamily="34" charset="-120"/>
                        </a:rPr>
                        <a:t>Single-stage spur gear step-up</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A 24 tooth gear on the blade shaft drives a 10 tooth pinion on the generator shaft.</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Lifts generator speed by 2.4 times, both gears print in one job, ratio is easy to change by reprinting one gear</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Adds a meshing loss of roughly 3 per cent, and needs a housing, two bearings and accurate centre distance</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1060704">
                <a:tc>
                  <a:txBody>
                    <a:bodyPr/>
                    <a:lstStyle/>
                    <a:p>
                      <a:pPr indent="0" marL="0">
                        <a:buNone/>
                      </a:pPr>
                      <a:r>
                        <a:rPr lang="en-US" sz="1050" b="1" dirty="0">
                          <a:solidFill>
                            <a:srgbClr val="16302E"/>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p>
                      <a:pPr indent="0" marL="0">
                        <a:buNone/>
                      </a:pPr>
                      <a:r>
                        <a:rPr lang="en-US" sz="1050" b="1" dirty="0">
                          <a:solidFill>
                            <a:srgbClr val="16302E"/>
                          </a:solidFill>
                          <a:latin typeface="Calibri" pitchFamily="34" charset="0"/>
                          <a:ea typeface="Calibri" pitchFamily="34" charset="-122"/>
                          <a:cs typeface="Calibri" pitchFamily="34" charset="-120"/>
                        </a:rPr>
                        <a:t>Two-stage gear train</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Two gear pairs in series give a much larger overall step-up.</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Reaches a high generator speed even in light wind, so it produces something on marginal days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Twice the parts and twice the friction, harder to align, and the extra drag raises the wind speed needed to start turning at all</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257800"/>
            <a:ext cx="11091672" cy="960120"/>
          </a:xfrm>
          <a:prstGeom prst="rect">
            <a:avLst/>
          </a:prstGeom>
          <a:solidFill>
            <a:srgbClr val="EAF5F2"/>
          </a:solidFill>
          <a:ln w="12700">
            <a:solidFill>
              <a:srgbClr val="BFE3DA"/>
            </a:solidFill>
            <a:prstDash val="solid"/>
          </a:ln>
        </p:spPr>
      </p:sp>
      <p:sp>
        <p:nvSpPr>
          <p:cNvPr id="8" name="Text 5"/>
          <p:cNvSpPr/>
          <p:nvPr/>
        </p:nvSpPr>
        <p:spPr>
          <a:xfrm>
            <a:off x="804672" y="5257800"/>
            <a:ext cx="10579608" cy="9601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Option B selected.  </a:t>
            </a:r>
            <a:pPr indent="0" marL="0">
              <a:buNone/>
            </a:pPr>
            <a:r>
              <a:rPr lang="en-US" sz="1100" dirty="0">
                <a:solidFill>
                  <a:srgbClr val="16302E"/>
                </a:solidFill>
                <a:latin typeface="Calibri" pitchFamily="34" charset="0"/>
                <a:ea typeface="Calibri" pitchFamily="34" charset="-122"/>
                <a:cs typeface="Calibri" pitchFamily="34" charset="-120"/>
              </a:rPr>
              <a:t>The generator needs roughly 1000 rpm before it produces a useful voltage, and the rotor reaches about 480 rpm at the 6 m/s design point. A 2.4 : 1 step-up closes that gap with one gear pair. Option A never reaches the speed, and Option C buys speed the system does not need while adding friction that raises the cut-in wind speed.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Electronic subsystem: controller options</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2  |  GENERATING AND DESIGNING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1920240"/>
                <a:gridCol w="3200400"/>
                <a:gridCol w="3200400"/>
                <a:gridCol w="2770632"/>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Option</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works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Strengths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Weaknesses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r>
              <a:tr h="1060704">
                <a:tc>
                  <a:txBody>
                    <a:bodyPr/>
                    <a:lstStyle/>
                    <a:p>
                      <a:pPr indent="0" marL="0">
                        <a:buNone/>
                      </a:pPr>
                      <a:r>
                        <a:rPr lang="en-US" sz="1050" b="1" dirty="0">
                          <a:solidFill>
                            <a:srgbClr val="16302E"/>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p>
                      <a:pPr indent="0" marL="0">
                        <a:buNone/>
                      </a:pPr>
                      <a:r>
                        <a:rPr lang="en-US" sz="1050" b="1" dirty="0">
                          <a:solidFill>
                            <a:srgbClr val="16302E"/>
                          </a:solidFill>
                          <a:latin typeface="Calibri" pitchFamily="34" charset="0"/>
                          <a:ea typeface="Calibri" pitchFamily="34" charset="-122"/>
                          <a:cs typeface="Calibri" pitchFamily="34" charset="-120"/>
                        </a:rPr>
                        <a:t>Blocking diode only</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A diode stops the battery discharging back through the generator. The battery charges whenever the rotor turns.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Cheapest possible, almost nothing to fail, no programming</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No overcharge protection at all, and no way to choose between storing, using or shedding the output</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1060704">
                <a:tc>
                  <a:txBody>
                    <a:bodyPr/>
                    <a:lstStyle/>
                    <a:p>
                      <a:pPr indent="0" marL="0">
                        <a:buNone/>
                      </a:pPr>
                      <a:r>
                        <a:rPr lang="en-US" sz="1050" b="1" dirty="0">
                          <a:solidFill>
                            <a:srgbClr val="16302E"/>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p>
                      <a:pPr indent="0" marL="0">
                        <a:buNone/>
                      </a:pPr>
                      <a:r>
                        <a:rPr lang="en-US" sz="1050" b="1" dirty="0">
                          <a:solidFill>
                            <a:srgbClr val="16302E"/>
                          </a:solidFill>
                          <a:latin typeface="Calibri" pitchFamily="34" charset="0"/>
                          <a:ea typeface="Calibri" pitchFamily="34" charset="-122"/>
                          <a:cs typeface="Calibri" pitchFamily="34" charset="-120"/>
                        </a:rPr>
                        <a:t>Manual switch selector</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A rotary switch routes the current to the battery, a direct load or a dump-load resistor.</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Gives real choice over how the electricity is used, and is simple to demonstrate</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Only works while someone is watching it, so the battery is still exposed to overcharge overnight</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1060704">
                <a:tc>
                  <a:txBody>
                    <a:bodyPr/>
                    <a:lstStyle/>
                    <a:p>
                      <a:pPr indent="0" marL="0">
                        <a:buNone/>
                      </a:pPr>
                      <a:r>
                        <a:rPr lang="en-US" sz="1050" b="1" dirty="0">
                          <a:solidFill>
                            <a:srgbClr val="16302E"/>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p>
                      <a:pPr indent="0" marL="0">
                        <a:buNone/>
                      </a:pPr>
                      <a:r>
                        <a:rPr lang="en-US" sz="1050" b="1" dirty="0">
                          <a:solidFill>
                            <a:srgbClr val="16302E"/>
                          </a:solidFill>
                          <a:latin typeface="Calibri" pitchFamily="34" charset="0"/>
                          <a:ea typeface="Calibri" pitchFamily="34" charset="-122"/>
                          <a:cs typeface="Calibri" pitchFamily="34" charset="-120"/>
                        </a:rPr>
                        <a:t>Microcontroller charge controller</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The controller reads the bus and battery voltage through a divider and switches one of three output paths on.</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Automatic, protects the battery on set thresholds, logs its own behaviour, and closes the control loop the brief asks for</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1050" dirty="0">
                          <a:solidFill>
                            <a:srgbClr val="16302E"/>
                          </a:solidFill>
                          <a:latin typeface="Calibri" pitchFamily="34" charset="0"/>
                          <a:ea typeface="Calibri" pitchFamily="34" charset="-122"/>
                          <a:cs typeface="Calibri" pitchFamily="34" charset="-120"/>
                        </a:rPr>
                        <a:t>Most components, needs programming and debugging, and a fault in the code can leave the battery unprotected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257800"/>
            <a:ext cx="11091672" cy="960120"/>
          </a:xfrm>
          <a:prstGeom prst="rect">
            <a:avLst/>
          </a:prstGeom>
          <a:solidFill>
            <a:srgbClr val="EAF5F2"/>
          </a:solidFill>
          <a:ln w="12700">
            <a:solidFill>
              <a:srgbClr val="BFE3DA"/>
            </a:solidFill>
            <a:prstDash val="solid"/>
          </a:ln>
        </p:spPr>
      </p:sp>
      <p:sp>
        <p:nvSpPr>
          <p:cNvPr id="8" name="Text 5"/>
          <p:cNvSpPr/>
          <p:nvPr/>
        </p:nvSpPr>
        <p:spPr>
          <a:xfrm>
            <a:off x="804672" y="5257800"/>
            <a:ext cx="10579608" cy="9601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Option C selected.  </a:t>
            </a:r>
            <a:pPr indent="0" marL="0">
              <a:buNone/>
            </a:pPr>
            <a:r>
              <a:rPr lang="en-US" sz="1100" dirty="0">
                <a:solidFill>
                  <a:srgbClr val="16302E"/>
                </a:solidFill>
                <a:latin typeface="Calibri" pitchFamily="34" charset="0"/>
                <a:ea typeface="Calibri" pitchFamily="34" charset="-122"/>
                <a:cs typeface="Calibri" pitchFamily="34" charset="-120"/>
              </a:rPr>
              <a:t>The design brief requires the system to decide how the generated electricity is used, and only Option C does that without a person present. It is also the only option that meets EC4, since it is the one that can stop charging at 14.4 V. The programming risk is managed by testing each switching threshold on a bench supply before the controller is ever connected to the turbine.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Preferred design: the integrated system</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2  |  GENERATING AND DESIGNING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8</a:t>
            </a:r>
            <a:endParaRPr lang="en-US" sz="900" dirty="0"/>
          </a:p>
        </p:txBody>
      </p:sp>
      <p:pic>
        <p:nvPicPr>
          <p:cNvPr id="6" name="Image 0" descr="images/system_block.png">    </p:cNvPr>
          <p:cNvPicPr>
            <a:picLocks noChangeAspect="1"/>
          </p:cNvPicPr>
          <p:nvPr/>
        </p:nvPicPr>
        <p:blipFill>
          <a:blip r:embed="rId1"/>
          <a:stretch>
            <a:fillRect/>
          </a:stretch>
        </p:blipFill>
        <p:spPr>
          <a:xfrm>
            <a:off x="548640" y="1481328"/>
            <a:ext cx="11091672" cy="48063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Input, process and output across the three subsystems</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2  |  GENERATING AND DESIGNING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9</a:t>
            </a:r>
            <a:endParaRPr lang="en-US" sz="900" dirty="0"/>
          </a:p>
        </p:txBody>
      </p:sp>
      <p:pic>
        <p:nvPicPr>
          <p:cNvPr id="6" name="Image 0" descr="images/ipo.png">    </p:cNvPr>
          <p:cNvPicPr>
            <a:picLocks noChangeAspect="1"/>
          </p:cNvPicPr>
          <p:nvPr/>
        </p:nvPicPr>
        <p:blipFill>
          <a:blip r:embed="rId1"/>
          <a:stretch>
            <a:fillRect/>
          </a:stretch>
        </p:blipFill>
        <p:spPr>
          <a:xfrm>
            <a:off x="548640" y="1572768"/>
            <a:ext cx="11091672" cy="48988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Mechanical subsystem: the gear train</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2  |  GENERATING AND DESIGNING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10</a:t>
            </a:r>
            <a:endParaRPr lang="en-US" sz="900" dirty="0"/>
          </a:p>
        </p:txBody>
      </p:sp>
      <p:pic>
        <p:nvPicPr>
          <p:cNvPr id="6" name="Image 0" descr="images/mech_subsystem.png">    </p:cNvPr>
          <p:cNvPicPr>
            <a:picLocks noChangeAspect="1"/>
          </p:cNvPicPr>
          <p:nvPr/>
        </p:nvPicPr>
        <p:blipFill>
          <a:blip r:embed="rId1"/>
          <a:stretch>
            <a:fillRect/>
          </a:stretch>
        </p:blipFill>
        <p:spPr>
          <a:xfrm>
            <a:off x="548640" y="1600200"/>
            <a:ext cx="7635240" cy="3470564"/>
          </a:xfrm>
          <a:prstGeom prst="rect">
            <a:avLst/>
          </a:prstGeom>
        </p:spPr>
      </p:pic>
      <p:sp>
        <p:nvSpPr>
          <p:cNvPr id="7" name="Shape 4"/>
          <p:cNvSpPr/>
          <p:nvPr/>
        </p:nvSpPr>
        <p:spPr>
          <a:xfrm>
            <a:off x="8458200" y="1554480"/>
            <a:ext cx="3182112" cy="4709160"/>
          </a:xfrm>
          <a:prstGeom prst="rect">
            <a:avLst/>
          </a:prstGeom>
          <a:solidFill>
            <a:srgbClr val="FFFFFF"/>
          </a:solidFill>
          <a:ln w="12700">
            <a:solidFill>
              <a:srgbClr val="DDE6E4"/>
            </a:solidFill>
            <a:prstDash val="solid"/>
          </a:ln>
        </p:spPr>
      </p:sp>
      <p:sp>
        <p:nvSpPr>
          <p:cNvPr id="8" name="Text 5"/>
          <p:cNvSpPr/>
          <p:nvPr/>
        </p:nvSpPr>
        <p:spPr>
          <a:xfrm>
            <a:off x="8714232" y="1773936"/>
            <a:ext cx="267004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How it works</a:t>
            </a:r>
            <a:endParaRPr lang="en-US" sz="1400" dirty="0"/>
          </a:p>
        </p:txBody>
      </p:sp>
      <p:sp>
        <p:nvSpPr>
          <p:cNvPr id="9" name="Text 6"/>
          <p:cNvSpPr/>
          <p:nvPr/>
        </p:nvSpPr>
        <p:spPr>
          <a:xfrm>
            <a:off x="8641080" y="2212848"/>
            <a:ext cx="2816352" cy="3931920"/>
          </a:xfrm>
          <a:prstGeom prst="rect">
            <a:avLst/>
          </a:prstGeom>
          <a:noFill/>
          <a:ln/>
        </p:spPr>
        <p:txBody>
          <a:bodyPr wrap="square" lIns="0" tIns="0" rIns="0" bIns="0" rtlCol="0" anchor="t"/>
          <a:lstStyle/>
          <a:p>
            <a:pPr indent="0" marL="0">
              <a:buNone/>
            </a:pPr>
            <a:r>
              <a:rPr lang="en-US" sz="1100" dirty="0">
                <a:solidFill>
                  <a:srgbClr val="16302E"/>
                </a:solidFill>
                <a:latin typeface="Calibri" pitchFamily="34" charset="0"/>
                <a:ea typeface="Calibri" pitchFamily="34" charset="-122"/>
                <a:cs typeface="Calibri" pitchFamily="34" charset="-120"/>
              </a:rPr>
              <a:t>The rotor shaft carries a 24 tooth spur gear that meshes with a 10 tooth pinion on the generator shaft. Every turn of the rotor becomes 2.4 turns of the generator.</a:t>
            </a:r>
            <a:endParaRPr lang="en-US" sz="1100" dirty="0"/>
          </a:p>
          <a:p>
            <a:pPr indent="0" marL="0">
              <a:buNone/>
            </a:pPr>
            <a:endParaRPr lang="en-US" sz="1100" dirty="0"/>
          </a:p>
          <a:p>
            <a:pPr indent="0" marL="0">
              <a:buNone/>
            </a:pPr>
            <a:r>
              <a:rPr lang="en-US" sz="1100" b="1" dirty="0">
                <a:solidFill>
                  <a:srgbClr val="028090"/>
                </a:solidFill>
                <a:latin typeface="Calibri" pitchFamily="34" charset="0"/>
                <a:ea typeface="Calibri" pitchFamily="34" charset="-122"/>
                <a:cs typeface="Calibri" pitchFamily="34" charset="-120"/>
              </a:rPr>
              <a:t>Why 24 and 10:</a:t>
            </a:r>
            <a:endParaRPr lang="en-US" sz="1100" dirty="0"/>
          </a:p>
          <a:p>
            <a:pPr indent="0" marL="0">
              <a:buNone/>
            </a:pPr>
            <a:r>
              <a:rPr lang="en-US" sz="1100" dirty="0">
                <a:solidFill>
                  <a:srgbClr val="16302E"/>
                </a:solidFill>
                <a:latin typeface="Calibri" pitchFamily="34" charset="0"/>
                <a:ea typeface="Calibri" pitchFamily="34" charset="-122"/>
                <a:cs typeface="Calibri" pitchFamily="34" charset="-120"/>
              </a:rPr>
              <a:t>Ten teeth is the smallest pinion that prints cleanly at 2 mm module without the teeth undercutting. Pairing it with 24 teeth gives the 2.4 : 1 ratio the generator needs, and both gears fit inside a 120 mm housing.</a:t>
            </a:r>
            <a:endParaRPr lang="en-US" sz="1100" dirty="0"/>
          </a:p>
          <a:p>
            <a:pPr indent="0" marL="0">
              <a:buNone/>
            </a:pPr>
            <a:endParaRPr lang="en-US" sz="1100" dirty="0"/>
          </a:p>
          <a:p>
            <a:pPr indent="0" marL="0">
              <a:buNone/>
            </a:pPr>
            <a:r>
              <a:rPr lang="en-US" sz="1100" b="1" dirty="0">
                <a:solidFill>
                  <a:srgbClr val="028090"/>
                </a:solidFill>
                <a:latin typeface="Calibri" pitchFamily="34" charset="0"/>
                <a:ea typeface="Calibri" pitchFamily="34" charset="-122"/>
                <a:cs typeface="Calibri" pitchFamily="34" charset="-120"/>
              </a:rPr>
              <a:t>Bearings:</a:t>
            </a:r>
            <a:endParaRPr lang="en-US" sz="1100" dirty="0"/>
          </a:p>
          <a:p>
            <a:pPr indent="0" marL="0">
              <a:buNone/>
            </a:pPr>
            <a:r>
              <a:rPr lang="en-US" sz="1100" dirty="0">
                <a:solidFill>
                  <a:srgbClr val="16302E"/>
                </a:solidFill>
                <a:latin typeface="Calibri" pitchFamily="34" charset="0"/>
                <a:ea typeface="Calibri" pitchFamily="34" charset="-122"/>
                <a:cs typeface="Calibri" pitchFamily="34" charset="-120"/>
              </a:rPr>
              <a:t>Two sealed ball bearings carry the rotor shaft so the printed gear never takes a side load from the blades. Sealed units keep grit and water out of the mesh.</a:t>
            </a:r>
            <a:endParaRPr lang="en-US" sz="1100" dirty="0"/>
          </a:p>
          <a:p>
            <a:pPr indent="0" marL="0">
              <a:buNone/>
            </a:pPr>
            <a:endParaRPr lang="en-US" sz="1100" dirty="0"/>
          </a:p>
          <a:p>
            <a:pPr indent="0" marL="0">
              <a:buNone/>
            </a:pPr>
            <a:r>
              <a:rPr lang="en-US" sz="1100" b="1" dirty="0">
                <a:solidFill>
                  <a:srgbClr val="028090"/>
                </a:solidFill>
                <a:latin typeface="Calibri" pitchFamily="34" charset="0"/>
                <a:ea typeface="Calibri" pitchFamily="34" charset="-122"/>
                <a:cs typeface="Calibri" pitchFamily="34" charset="-120"/>
              </a:rPr>
              <a:t>Trade-off accepted:</a:t>
            </a:r>
            <a:endParaRPr lang="en-US" sz="1100" dirty="0"/>
          </a:p>
          <a:p>
            <a:pPr indent="0" marL="0">
              <a:buNone/>
            </a:pPr>
            <a:r>
              <a:rPr lang="en-US" sz="1100" dirty="0">
                <a:solidFill>
                  <a:srgbClr val="16302E"/>
                </a:solidFill>
                <a:latin typeface="Calibri" pitchFamily="34" charset="0"/>
                <a:ea typeface="Calibri" pitchFamily="34" charset="-122"/>
                <a:cs typeface="Calibri" pitchFamily="34" charset="-120"/>
              </a:rPr>
              <a:t>Torque at the generator falls by the same 2.4 times that speed rises. That is fine here, because the generator needs speed rather than torque, but it does raise the wind speed at which the rotor first breaks away.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Exploded assembly view of the nacelle</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2  |  GENERATING AND DESIGNING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11</a:t>
            </a:r>
            <a:endParaRPr lang="en-US" sz="900" dirty="0"/>
          </a:p>
        </p:txBody>
      </p:sp>
      <p:pic>
        <p:nvPicPr>
          <p:cNvPr id="6" name="Image 0" descr="images/exploded.png">    </p:cNvPr>
          <p:cNvPicPr>
            <a:picLocks noChangeAspect="1"/>
          </p:cNvPicPr>
          <p:nvPr/>
        </p:nvPicPr>
        <p:blipFill>
          <a:blip r:embed="rId1"/>
          <a:stretch>
            <a:fillRect/>
          </a:stretch>
        </p:blipFill>
        <p:spPr>
          <a:xfrm>
            <a:off x="975208" y="1481328"/>
            <a:ext cx="10241280" cy="4562025"/>
          </a:xfrm>
          <a:prstGeom prst="rect">
            <a:avLst/>
          </a:prstGeom>
        </p:spPr>
      </p:pic>
      <p:sp>
        <p:nvSpPr>
          <p:cNvPr id="7" name="Text 4"/>
          <p:cNvSpPr/>
          <p:nvPr/>
        </p:nvSpPr>
        <p:spPr>
          <a:xfrm>
            <a:off x="548640" y="6171369"/>
            <a:ext cx="11091672" cy="365760"/>
          </a:xfrm>
          <a:prstGeom prst="rect">
            <a:avLst/>
          </a:prstGeom>
          <a:noFill/>
          <a:ln/>
        </p:spPr>
        <p:txBody>
          <a:bodyPr wrap="square" lIns="0" tIns="0" rIns="0" bIns="0" rtlCol="0" anchor="ctr"/>
          <a:lstStyle/>
          <a:p>
            <a:pPr algn="ctr" indent="0" marL="0">
              <a:buNone/>
            </a:pPr>
            <a:r>
              <a:rPr lang="en-US" sz="1150" i="1" dirty="0">
                <a:solidFill>
                  <a:srgbClr val="5B7370"/>
                </a:solidFill>
                <a:latin typeface="Calibri" pitchFamily="34" charset="0"/>
                <a:ea typeface="Calibri" pitchFamily="34" charset="-122"/>
                <a:cs typeface="Calibri" pitchFamily="34" charset="-120"/>
              </a:rPr>
              <a:t>Item numbers correspond to the materials list. The whole drive train slides onto one shaft, so the nose cone and gearbox cover come off for inspection without taking the nacelle off the tower.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Electronic subsystem: controller circuit</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2  |  GENERATING AND DESIGNING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12</a:t>
            </a:r>
            <a:endParaRPr lang="en-US" sz="900" dirty="0"/>
          </a:p>
        </p:txBody>
      </p:sp>
      <p:pic>
        <p:nvPicPr>
          <p:cNvPr id="6" name="Image 0" descr="images/circuit.png">    </p:cNvPr>
          <p:cNvPicPr>
            <a:picLocks noChangeAspect="1"/>
          </p:cNvPicPr>
          <p:nvPr/>
        </p:nvPicPr>
        <p:blipFill>
          <a:blip r:embed="rId1"/>
          <a:stretch>
            <a:fillRect/>
          </a:stretch>
        </p:blipFill>
        <p:spPr>
          <a:xfrm>
            <a:off x="548640" y="1828800"/>
            <a:ext cx="7863840" cy="3211068"/>
          </a:xfrm>
          <a:prstGeom prst="rect">
            <a:avLst/>
          </a:prstGeom>
        </p:spPr>
      </p:pic>
      <p:sp>
        <p:nvSpPr>
          <p:cNvPr id="7" name="Shape 4"/>
          <p:cNvSpPr/>
          <p:nvPr/>
        </p:nvSpPr>
        <p:spPr>
          <a:xfrm>
            <a:off x="8686800" y="1554480"/>
            <a:ext cx="2953512" cy="4709160"/>
          </a:xfrm>
          <a:prstGeom prst="rect">
            <a:avLst/>
          </a:prstGeom>
          <a:solidFill>
            <a:srgbClr val="FFFFFF"/>
          </a:solidFill>
          <a:ln w="12700">
            <a:solidFill>
              <a:srgbClr val="DDE6E4"/>
            </a:solidFill>
            <a:prstDash val="solid"/>
          </a:ln>
        </p:spPr>
      </p:sp>
      <p:sp>
        <p:nvSpPr>
          <p:cNvPr id="8" name="Text 5"/>
          <p:cNvSpPr/>
          <p:nvPr/>
        </p:nvSpPr>
        <p:spPr>
          <a:xfrm>
            <a:off x="8942832" y="1773936"/>
            <a:ext cx="244144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Reading the circuit</a:t>
            </a:r>
            <a:endParaRPr lang="en-US" sz="1400" dirty="0"/>
          </a:p>
        </p:txBody>
      </p:sp>
      <p:sp>
        <p:nvSpPr>
          <p:cNvPr id="9" name="Text 6"/>
          <p:cNvSpPr/>
          <p:nvPr/>
        </p:nvSpPr>
        <p:spPr>
          <a:xfrm>
            <a:off x="8869680" y="2212848"/>
            <a:ext cx="2587752" cy="3931920"/>
          </a:xfrm>
          <a:prstGeom prst="rect">
            <a:avLst/>
          </a:prstGeom>
          <a:noFill/>
          <a:ln/>
        </p:spPr>
        <p:txBody>
          <a:bodyPr wrap="square" lIns="0" tIns="0" rIns="0" bIns="0" rtlCol="0" anchor="t"/>
          <a:lstStyle/>
          <a:p>
            <a:pPr indent="0" marL="0">
              <a:buNone/>
            </a:pPr>
            <a:r>
              <a:rPr lang="en-US" sz="1050" b="1" dirty="0">
                <a:solidFill>
                  <a:srgbClr val="028090"/>
                </a:solidFill>
                <a:latin typeface="Calibri" pitchFamily="34" charset="0"/>
                <a:ea typeface="Calibri" pitchFamily="34" charset="-122"/>
                <a:cs typeface="Calibri" pitchFamily="34" charset="-120"/>
              </a:rPr>
              <a:t>1.  Rectify.</a:t>
            </a:r>
            <a:pPr indent="0" marL="0">
              <a:buNone/>
            </a:pPr>
            <a:r>
              <a:rPr lang="en-US" sz="1050" dirty="0">
                <a:solidFill>
                  <a:srgbClr val="16302E"/>
                </a:solidFill>
                <a:latin typeface="Calibri" pitchFamily="34" charset="0"/>
                <a:ea typeface="Calibri" pitchFamily="34" charset="-122"/>
                <a:cs typeface="Calibri" pitchFamily="34" charset="-120"/>
              </a:rPr>
              <a:t>  The generator output is rectified so current can only flow one way into the system.</a:t>
            </a:r>
            <a:endParaRPr lang="en-US" sz="1050" dirty="0"/>
          </a:p>
          <a:p>
            <a:pPr indent="0" marL="0">
              <a:buNone/>
            </a:pPr>
            <a:endParaRPr lang="en-US" sz="1050" dirty="0"/>
          </a:p>
          <a:p>
            <a:pPr indent="0" marL="0">
              <a:buNone/>
            </a:pPr>
            <a:r>
              <a:rPr lang="en-US" sz="1050" b="1" dirty="0">
                <a:solidFill>
                  <a:srgbClr val="028090"/>
                </a:solidFill>
                <a:latin typeface="Calibri" pitchFamily="34" charset="0"/>
                <a:ea typeface="Calibri" pitchFamily="34" charset="-122"/>
                <a:cs typeface="Calibri" pitchFamily="34" charset="-120"/>
              </a:rPr>
              <a:t>2.  Smooth.</a:t>
            </a:r>
            <a:endParaRPr lang="en-US" sz="1050" dirty="0"/>
          </a:p>
          <a:p>
            <a:pPr indent="0" marL="0">
              <a:buNone/>
            </a:pPr>
            <a:r>
              <a:rPr lang="en-US" sz="1050" dirty="0">
                <a:solidFill>
                  <a:srgbClr val="16302E"/>
                </a:solidFill>
                <a:latin typeface="Calibri" pitchFamily="34" charset="0"/>
                <a:ea typeface="Calibri" pitchFamily="34" charset="-122"/>
                <a:cs typeface="Calibri" pitchFamily="34" charset="-120"/>
              </a:rPr>
              <a:t>  A capacitor across the rails flattens the ripple, giving the controller a steady voltage to measure.</a:t>
            </a:r>
            <a:endParaRPr lang="en-US" sz="1050" dirty="0"/>
          </a:p>
          <a:p>
            <a:pPr indent="0" marL="0">
              <a:buNone/>
            </a:pPr>
            <a:endParaRPr lang="en-US" sz="1050" dirty="0"/>
          </a:p>
          <a:p>
            <a:pPr indent="0" marL="0">
              <a:buNone/>
            </a:pPr>
            <a:r>
              <a:rPr lang="en-US" sz="1050" b="1" dirty="0">
                <a:solidFill>
                  <a:srgbClr val="028090"/>
                </a:solidFill>
                <a:latin typeface="Calibri" pitchFamily="34" charset="0"/>
                <a:ea typeface="Calibri" pitchFamily="34" charset="-122"/>
                <a:cs typeface="Calibri" pitchFamily="34" charset="-120"/>
              </a:rPr>
              <a:t>3.  Sense.</a:t>
            </a:r>
            <a:endParaRPr lang="en-US" sz="1050" dirty="0"/>
          </a:p>
          <a:p>
            <a:pPr indent="0" marL="0">
              <a:buNone/>
            </a:pPr>
            <a:r>
              <a:rPr lang="en-US" sz="1050" dirty="0">
                <a:solidFill>
                  <a:srgbClr val="16302E"/>
                </a:solidFill>
                <a:latin typeface="Calibri" pitchFamily="34" charset="0"/>
                <a:ea typeface="Calibri" pitchFamily="34" charset="-122"/>
                <a:cs typeface="Calibri" pitchFamily="34" charset="-120"/>
              </a:rPr>
              <a:t>  A two-resistor divider scales the bus voltage down into the controller's input range, so a 20 V bus reads as about 2.6 V.</a:t>
            </a:r>
            <a:endParaRPr lang="en-US" sz="1050" dirty="0"/>
          </a:p>
          <a:p>
            <a:pPr indent="0" marL="0">
              <a:buNone/>
            </a:pPr>
            <a:endParaRPr lang="en-US" sz="1050" dirty="0"/>
          </a:p>
          <a:p>
            <a:pPr indent="0" marL="0">
              <a:buNone/>
            </a:pPr>
            <a:r>
              <a:rPr lang="en-US" sz="1050" b="1" dirty="0">
                <a:solidFill>
                  <a:srgbClr val="028090"/>
                </a:solidFill>
                <a:latin typeface="Calibri" pitchFamily="34" charset="0"/>
                <a:ea typeface="Calibri" pitchFamily="34" charset="-122"/>
                <a:cs typeface="Calibri" pitchFamily="34" charset="-120"/>
              </a:rPr>
              <a:t>4.  Switch.</a:t>
            </a:r>
            <a:endParaRPr lang="en-US" sz="1050" dirty="0"/>
          </a:p>
          <a:p>
            <a:pPr indent="0" marL="0">
              <a:buNone/>
            </a:pPr>
            <a:r>
              <a:rPr lang="en-US" sz="1050" dirty="0">
                <a:solidFill>
                  <a:srgbClr val="16302E"/>
                </a:solidFill>
                <a:latin typeface="Calibri" pitchFamily="34" charset="0"/>
                <a:ea typeface="Calibri" pitchFamily="34" charset="-122"/>
                <a:cs typeface="Calibri" pitchFamily="34" charset="-120"/>
              </a:rPr>
              <a:t>  Three switching devices sit between the bus and the battery, the direct load and the dump load. The controller closes exactly one at a time.</a:t>
            </a:r>
            <a:endParaRPr lang="en-US" sz="1050" dirty="0"/>
          </a:p>
          <a:p>
            <a:pPr indent="0" marL="0">
              <a:buNone/>
            </a:pPr>
            <a:endParaRPr lang="en-US" sz="1050" dirty="0"/>
          </a:p>
          <a:p>
            <a:pPr indent="0" marL="0">
              <a:buNone/>
            </a:pPr>
            <a:r>
              <a:rPr lang="en-US" sz="1050" b="1" dirty="0">
                <a:solidFill>
                  <a:srgbClr val="028090"/>
                </a:solidFill>
                <a:latin typeface="Calibri" pitchFamily="34" charset="0"/>
                <a:ea typeface="Calibri" pitchFamily="34" charset="-122"/>
                <a:cs typeface="Calibri" pitchFamily="34" charset="-120"/>
              </a:rPr>
              <a:t>5.  Protect.</a:t>
            </a:r>
            <a:endParaRPr lang="en-US" sz="1050" dirty="0"/>
          </a:p>
          <a:p>
            <a:pPr indent="0" marL="0">
              <a:buNone/>
            </a:pPr>
            <a:r>
              <a:rPr lang="en-US" sz="1050" dirty="0">
                <a:solidFill>
                  <a:srgbClr val="16302E"/>
                </a:solidFill>
                <a:latin typeface="Calibri" pitchFamily="34" charset="0"/>
                <a:ea typeface="Calibri" pitchFamily="34" charset="-122"/>
                <a:cs typeface="Calibri" pitchFamily="34" charset="-120"/>
              </a:rPr>
              <a:t>  A fuse in the positive rail clears a short before the wiring heats, and the dump load always gives the rotor somewhere to push current.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Engineering calculations behind the design</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2  |  GENERATING AND DESIGNING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554480"/>
            <a:ext cx="3538728" cy="2212848"/>
          </a:xfrm>
          <a:prstGeom prst="rect">
            <a:avLst/>
          </a:prstGeom>
          <a:solidFill>
            <a:srgbClr val="FFFFFF"/>
          </a:solidFill>
          <a:ln w="12700">
            <a:solidFill>
              <a:srgbClr val="DDE6E4"/>
            </a:solidFill>
            <a:prstDash val="solid"/>
          </a:ln>
        </p:spPr>
      </p:sp>
      <p:sp>
        <p:nvSpPr>
          <p:cNvPr id="7" name="Text 5"/>
          <p:cNvSpPr/>
          <p:nvPr/>
        </p:nvSpPr>
        <p:spPr>
          <a:xfrm>
            <a:off x="749808" y="1682496"/>
            <a:ext cx="3136392" cy="310896"/>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1.  Power available in the wind</a:t>
            </a:r>
            <a:endParaRPr lang="en-US" sz="1250" dirty="0"/>
          </a:p>
        </p:txBody>
      </p:sp>
      <p:sp>
        <p:nvSpPr>
          <p:cNvPr id="8" name="Text 6"/>
          <p:cNvSpPr/>
          <p:nvPr/>
        </p:nvSpPr>
        <p:spPr>
          <a:xfrm>
            <a:off x="749808" y="2057400"/>
            <a:ext cx="3136392" cy="1143000"/>
          </a:xfrm>
          <a:prstGeom prst="rect">
            <a:avLst/>
          </a:prstGeom>
          <a:noFill/>
          <a:ln/>
        </p:spPr>
        <p:txBody>
          <a:bodyPr wrap="square" lIns="0" tIns="0" rIns="0" bIns="0" rtlCol="0" anchor="t"/>
          <a:lstStyle/>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Swept area  A = πr² = π × 0.6² = 1.13 m²</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P = ½ ρ A v³ = 0.5 × 1.225 × 1.13 × 6³</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P = 150 W available at 6 m/s</a:t>
            </a:r>
            <a:endParaRPr lang="en-US" sz="1050" dirty="0"/>
          </a:p>
        </p:txBody>
      </p:sp>
      <p:sp>
        <p:nvSpPr>
          <p:cNvPr id="9" name="Text 7"/>
          <p:cNvSpPr/>
          <p:nvPr/>
        </p:nvSpPr>
        <p:spPr>
          <a:xfrm>
            <a:off x="749808" y="3255264"/>
            <a:ext cx="3136392" cy="402336"/>
          </a:xfrm>
          <a:prstGeom prst="rect">
            <a:avLst/>
          </a:prstGeom>
          <a:noFill/>
          <a:ln/>
        </p:spPr>
        <p:txBody>
          <a:bodyPr wrap="square" lIns="0" tIns="0" rIns="0" bIns="0" rtlCol="0" anchor="t"/>
          <a:lstStyle/>
          <a:p>
            <a:pPr indent="0" marL="0">
              <a:buNone/>
            </a:pPr>
            <a:r>
              <a:rPr lang="en-US" sz="950" i="1" dirty="0">
                <a:solidFill>
                  <a:srgbClr val="5B7370"/>
                </a:solidFill>
                <a:latin typeface="Calibri" pitchFamily="34" charset="0"/>
                <a:ea typeface="Calibri" pitchFamily="34" charset="-122"/>
                <a:cs typeface="Calibri" pitchFamily="34" charset="-120"/>
              </a:rPr>
              <a:t>Rotor diameter is fixed at 1.2 m by the mounting position.</a:t>
            </a:r>
            <a:endParaRPr lang="en-US" sz="950" dirty="0"/>
          </a:p>
        </p:txBody>
      </p:sp>
      <p:sp>
        <p:nvSpPr>
          <p:cNvPr id="10" name="Shape 8"/>
          <p:cNvSpPr/>
          <p:nvPr/>
        </p:nvSpPr>
        <p:spPr>
          <a:xfrm>
            <a:off x="4325112" y="1554480"/>
            <a:ext cx="3538728" cy="2212848"/>
          </a:xfrm>
          <a:prstGeom prst="rect">
            <a:avLst/>
          </a:prstGeom>
          <a:solidFill>
            <a:srgbClr val="FFFFFF"/>
          </a:solidFill>
          <a:ln w="12700">
            <a:solidFill>
              <a:srgbClr val="DDE6E4"/>
            </a:solidFill>
            <a:prstDash val="solid"/>
          </a:ln>
        </p:spPr>
      </p:sp>
      <p:sp>
        <p:nvSpPr>
          <p:cNvPr id="11" name="Text 9"/>
          <p:cNvSpPr/>
          <p:nvPr/>
        </p:nvSpPr>
        <p:spPr>
          <a:xfrm>
            <a:off x="4526280" y="1682496"/>
            <a:ext cx="3136392" cy="310896"/>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2.  Realistic electrical output</a:t>
            </a:r>
            <a:endParaRPr lang="en-US" sz="1250" dirty="0"/>
          </a:p>
        </p:txBody>
      </p:sp>
      <p:sp>
        <p:nvSpPr>
          <p:cNvPr id="12" name="Text 10"/>
          <p:cNvSpPr/>
          <p:nvPr/>
        </p:nvSpPr>
        <p:spPr>
          <a:xfrm>
            <a:off x="4526280" y="2057400"/>
            <a:ext cx="3136392" cy="1143000"/>
          </a:xfrm>
          <a:prstGeom prst="rect">
            <a:avLst/>
          </a:prstGeom>
          <a:noFill/>
          <a:ln/>
        </p:spPr>
        <p:txBody>
          <a:bodyPr wrap="square" lIns="0" tIns="0" rIns="0" bIns="0" rtlCol="0" anchor="t"/>
          <a:lstStyle/>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Betz limit: 150 × 0.593 = 89 W</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Printed rotor at Cp = 0.30: 150 × 0.30 = 45 W</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Drivetrain and generator at 55%: 45 × 0.55 = 25 W</a:t>
            </a:r>
            <a:endParaRPr lang="en-US" sz="1050" dirty="0"/>
          </a:p>
        </p:txBody>
      </p:sp>
      <p:sp>
        <p:nvSpPr>
          <p:cNvPr id="13" name="Text 11"/>
          <p:cNvSpPr/>
          <p:nvPr/>
        </p:nvSpPr>
        <p:spPr>
          <a:xfrm>
            <a:off x="4526280" y="3255264"/>
            <a:ext cx="3136392" cy="402336"/>
          </a:xfrm>
          <a:prstGeom prst="rect">
            <a:avLst/>
          </a:prstGeom>
          <a:noFill/>
          <a:ln/>
        </p:spPr>
        <p:txBody>
          <a:bodyPr wrap="square" lIns="0" tIns="0" rIns="0" bIns="0" rtlCol="0" anchor="t"/>
          <a:lstStyle/>
          <a:p>
            <a:pPr indent="0" marL="0">
              <a:buNone/>
            </a:pPr>
            <a:r>
              <a:rPr lang="en-US" sz="950" i="1" dirty="0">
                <a:solidFill>
                  <a:srgbClr val="5B7370"/>
                </a:solidFill>
                <a:latin typeface="Calibri" pitchFamily="34" charset="0"/>
                <a:ea typeface="Calibri" pitchFamily="34" charset="-122"/>
                <a:cs typeface="Calibri" pitchFamily="34" charset="-120"/>
              </a:rPr>
              <a:t>This is where the 25 W target in EC1 comes from.</a:t>
            </a:r>
            <a:endParaRPr lang="en-US" sz="950" dirty="0"/>
          </a:p>
        </p:txBody>
      </p:sp>
      <p:sp>
        <p:nvSpPr>
          <p:cNvPr id="14" name="Shape 12"/>
          <p:cNvSpPr/>
          <p:nvPr/>
        </p:nvSpPr>
        <p:spPr>
          <a:xfrm>
            <a:off x="8101584" y="1554480"/>
            <a:ext cx="3538728" cy="2212848"/>
          </a:xfrm>
          <a:prstGeom prst="rect">
            <a:avLst/>
          </a:prstGeom>
          <a:solidFill>
            <a:srgbClr val="FFFFFF"/>
          </a:solidFill>
          <a:ln w="12700">
            <a:solidFill>
              <a:srgbClr val="DDE6E4"/>
            </a:solidFill>
            <a:prstDash val="solid"/>
          </a:ln>
        </p:spPr>
      </p:sp>
      <p:sp>
        <p:nvSpPr>
          <p:cNvPr id="15" name="Text 13"/>
          <p:cNvSpPr/>
          <p:nvPr/>
        </p:nvSpPr>
        <p:spPr>
          <a:xfrm>
            <a:off x="8302752" y="1682496"/>
            <a:ext cx="3136392" cy="310896"/>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3.  Rotor speed and gear ratio</a:t>
            </a:r>
            <a:endParaRPr lang="en-US" sz="1250" dirty="0"/>
          </a:p>
        </p:txBody>
      </p:sp>
      <p:sp>
        <p:nvSpPr>
          <p:cNvPr id="16" name="Text 14"/>
          <p:cNvSpPr/>
          <p:nvPr/>
        </p:nvSpPr>
        <p:spPr>
          <a:xfrm>
            <a:off x="8302752" y="2057400"/>
            <a:ext cx="3136392" cy="1143000"/>
          </a:xfrm>
          <a:prstGeom prst="rect">
            <a:avLst/>
          </a:prstGeom>
          <a:noFill/>
          <a:ln/>
        </p:spPr>
        <p:txBody>
          <a:bodyPr wrap="square" lIns="0" tIns="0" rIns="0" bIns="0" rtlCol="0" anchor="t"/>
          <a:lstStyle/>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At tip speed ratio λ = 5:  ω = λv / r = 5 × 6 / 0.6 = 50 rad/s</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N = 50 × 60 / 2π = 478 rpm at the rotor</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Gear ratio = 24 / 10 = 2.4 : 1  →  478 × 2.4 = 1147 rpm</a:t>
            </a:r>
            <a:endParaRPr lang="en-US" sz="1050" dirty="0"/>
          </a:p>
        </p:txBody>
      </p:sp>
      <p:sp>
        <p:nvSpPr>
          <p:cNvPr id="17" name="Text 15"/>
          <p:cNvSpPr/>
          <p:nvPr/>
        </p:nvSpPr>
        <p:spPr>
          <a:xfrm>
            <a:off x="8302752" y="3255264"/>
            <a:ext cx="3136392" cy="402336"/>
          </a:xfrm>
          <a:prstGeom prst="rect">
            <a:avLst/>
          </a:prstGeom>
          <a:noFill/>
          <a:ln/>
        </p:spPr>
        <p:txBody>
          <a:bodyPr wrap="square" lIns="0" tIns="0" rIns="0" bIns="0" rtlCol="0" anchor="t"/>
          <a:lstStyle/>
          <a:p>
            <a:pPr indent="0" marL="0">
              <a:buNone/>
            </a:pPr>
            <a:r>
              <a:rPr lang="en-US" sz="950" i="1" dirty="0">
                <a:solidFill>
                  <a:srgbClr val="5B7370"/>
                </a:solidFill>
                <a:latin typeface="Calibri" pitchFamily="34" charset="0"/>
                <a:ea typeface="Calibri" pitchFamily="34" charset="-122"/>
                <a:cs typeface="Calibri" pitchFamily="34" charset="-120"/>
              </a:rPr>
              <a:t>Meets the generator's need for roughly 1000 rpm.</a:t>
            </a:r>
            <a:endParaRPr lang="en-US" sz="950" dirty="0"/>
          </a:p>
        </p:txBody>
      </p:sp>
      <p:sp>
        <p:nvSpPr>
          <p:cNvPr id="18" name="Shape 16"/>
          <p:cNvSpPr/>
          <p:nvPr/>
        </p:nvSpPr>
        <p:spPr>
          <a:xfrm>
            <a:off x="548640" y="3950208"/>
            <a:ext cx="3538728" cy="2212848"/>
          </a:xfrm>
          <a:prstGeom prst="rect">
            <a:avLst/>
          </a:prstGeom>
          <a:solidFill>
            <a:srgbClr val="FFFFFF"/>
          </a:solidFill>
          <a:ln w="12700">
            <a:solidFill>
              <a:srgbClr val="DDE6E4"/>
            </a:solidFill>
            <a:prstDash val="solid"/>
          </a:ln>
        </p:spPr>
      </p:sp>
      <p:sp>
        <p:nvSpPr>
          <p:cNvPr id="19" name="Text 17"/>
          <p:cNvSpPr/>
          <p:nvPr/>
        </p:nvSpPr>
        <p:spPr>
          <a:xfrm>
            <a:off x="749808" y="4078224"/>
            <a:ext cx="3136392" cy="310896"/>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4.  Torque and gear tooth load</a:t>
            </a:r>
            <a:endParaRPr lang="en-US" sz="1250" dirty="0"/>
          </a:p>
        </p:txBody>
      </p:sp>
      <p:sp>
        <p:nvSpPr>
          <p:cNvPr id="20" name="Text 18"/>
          <p:cNvSpPr/>
          <p:nvPr/>
        </p:nvSpPr>
        <p:spPr>
          <a:xfrm>
            <a:off x="749808" y="4453128"/>
            <a:ext cx="3136392" cy="1143000"/>
          </a:xfrm>
          <a:prstGeom prst="rect">
            <a:avLst/>
          </a:prstGeom>
          <a:noFill/>
          <a:ln/>
        </p:spPr>
        <p:txBody>
          <a:bodyPr wrap="square" lIns="0" tIns="0" rIns="0" bIns="0" rtlCol="0" anchor="t"/>
          <a:lstStyle/>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Rotor torque  T = P / ω = 45 / 50 = 0.90 N·m</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Driver gear pitch radius (2 mm module, 24 teeth) = 0.024 m</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Tooth force  F = T / r = 0.90 / 0.024 = 37.5 N</a:t>
            </a:r>
            <a:endParaRPr lang="en-US" sz="1050" dirty="0"/>
          </a:p>
        </p:txBody>
      </p:sp>
      <p:sp>
        <p:nvSpPr>
          <p:cNvPr id="21" name="Text 19"/>
          <p:cNvSpPr/>
          <p:nvPr/>
        </p:nvSpPr>
        <p:spPr>
          <a:xfrm>
            <a:off x="749808" y="5650992"/>
            <a:ext cx="3136392" cy="402336"/>
          </a:xfrm>
          <a:prstGeom prst="rect">
            <a:avLst/>
          </a:prstGeom>
          <a:noFill/>
          <a:ln/>
        </p:spPr>
        <p:txBody>
          <a:bodyPr wrap="square" lIns="0" tIns="0" rIns="0" bIns="0" rtlCol="0" anchor="t"/>
          <a:lstStyle/>
          <a:p>
            <a:pPr indent="0" marL="0">
              <a:buNone/>
            </a:pPr>
            <a:r>
              <a:rPr lang="en-US" sz="950" i="1" dirty="0">
                <a:solidFill>
                  <a:srgbClr val="5B7370"/>
                </a:solidFill>
                <a:latin typeface="Calibri" pitchFamily="34" charset="0"/>
                <a:ea typeface="Calibri" pitchFamily="34" charset="-122"/>
                <a:cs typeface="Calibri" pitchFamily="34" charset="-120"/>
              </a:rPr>
              <a:t>Well inside what a 12 mm wide printed PLA tooth carries.</a:t>
            </a:r>
            <a:endParaRPr lang="en-US" sz="950" dirty="0"/>
          </a:p>
        </p:txBody>
      </p:sp>
      <p:sp>
        <p:nvSpPr>
          <p:cNvPr id="22" name="Shape 20"/>
          <p:cNvSpPr/>
          <p:nvPr/>
        </p:nvSpPr>
        <p:spPr>
          <a:xfrm>
            <a:off x="4325112" y="3950208"/>
            <a:ext cx="3538728" cy="2212848"/>
          </a:xfrm>
          <a:prstGeom prst="rect">
            <a:avLst/>
          </a:prstGeom>
          <a:solidFill>
            <a:srgbClr val="FFFFFF"/>
          </a:solidFill>
          <a:ln w="12700">
            <a:solidFill>
              <a:srgbClr val="DDE6E4"/>
            </a:solidFill>
            <a:prstDash val="solid"/>
          </a:ln>
        </p:spPr>
      </p:sp>
      <p:sp>
        <p:nvSpPr>
          <p:cNvPr id="23" name="Text 21"/>
          <p:cNvSpPr/>
          <p:nvPr/>
        </p:nvSpPr>
        <p:spPr>
          <a:xfrm>
            <a:off x="4526280" y="4078224"/>
            <a:ext cx="3136392" cy="310896"/>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5.  Dump load sizing</a:t>
            </a:r>
            <a:endParaRPr lang="en-US" sz="1250" dirty="0"/>
          </a:p>
        </p:txBody>
      </p:sp>
      <p:sp>
        <p:nvSpPr>
          <p:cNvPr id="24" name="Text 22"/>
          <p:cNvSpPr/>
          <p:nvPr/>
        </p:nvSpPr>
        <p:spPr>
          <a:xfrm>
            <a:off x="4526280" y="4453128"/>
            <a:ext cx="3136392" cy="1143000"/>
          </a:xfrm>
          <a:prstGeom prst="rect">
            <a:avLst/>
          </a:prstGeom>
          <a:noFill/>
          <a:ln/>
        </p:spPr>
        <p:txBody>
          <a:bodyPr wrap="square" lIns="0" tIns="0" rIns="0" bIns="0" rtlCol="0" anchor="t"/>
          <a:lstStyle/>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Shed the full output at the 12 V bus:</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R = V² / P = 12² / 25 = 5.8 Ω</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Chosen: 5.6 Ω rated 50 W, so it runs at half its rating</a:t>
            </a:r>
            <a:endParaRPr lang="en-US" sz="1050" dirty="0"/>
          </a:p>
        </p:txBody>
      </p:sp>
      <p:sp>
        <p:nvSpPr>
          <p:cNvPr id="25" name="Text 23"/>
          <p:cNvSpPr/>
          <p:nvPr/>
        </p:nvSpPr>
        <p:spPr>
          <a:xfrm>
            <a:off x="4526280" y="5650992"/>
            <a:ext cx="3136392" cy="402336"/>
          </a:xfrm>
          <a:prstGeom prst="rect">
            <a:avLst/>
          </a:prstGeom>
          <a:noFill/>
          <a:ln/>
        </p:spPr>
        <p:txBody>
          <a:bodyPr wrap="square" lIns="0" tIns="0" rIns="0" bIns="0" rtlCol="0" anchor="t"/>
          <a:lstStyle/>
          <a:p>
            <a:pPr indent="0" marL="0">
              <a:buNone/>
            </a:pPr>
            <a:r>
              <a:rPr lang="en-US" sz="950" i="1" dirty="0">
                <a:solidFill>
                  <a:srgbClr val="5B7370"/>
                </a:solidFill>
                <a:latin typeface="Calibri" pitchFamily="34" charset="0"/>
                <a:ea typeface="Calibri" pitchFamily="34" charset="-122"/>
                <a:cs typeface="Calibri" pitchFamily="34" charset="-120"/>
              </a:rPr>
              <a:t>Derating keeps the resistor surface temperature down.</a:t>
            </a:r>
            <a:endParaRPr lang="en-US" sz="950" dirty="0"/>
          </a:p>
        </p:txBody>
      </p:sp>
      <p:sp>
        <p:nvSpPr>
          <p:cNvPr id="26" name="Shape 24"/>
          <p:cNvSpPr/>
          <p:nvPr/>
        </p:nvSpPr>
        <p:spPr>
          <a:xfrm>
            <a:off x="8101584" y="3950208"/>
            <a:ext cx="3538728" cy="2212848"/>
          </a:xfrm>
          <a:prstGeom prst="rect">
            <a:avLst/>
          </a:prstGeom>
          <a:solidFill>
            <a:srgbClr val="FFFFFF"/>
          </a:solidFill>
          <a:ln w="12700">
            <a:solidFill>
              <a:srgbClr val="DDE6E4"/>
            </a:solidFill>
            <a:prstDash val="solid"/>
          </a:ln>
        </p:spPr>
      </p:sp>
      <p:sp>
        <p:nvSpPr>
          <p:cNvPr id="27" name="Text 25"/>
          <p:cNvSpPr/>
          <p:nvPr/>
        </p:nvSpPr>
        <p:spPr>
          <a:xfrm>
            <a:off x="8302752" y="4078224"/>
            <a:ext cx="3136392" cy="310896"/>
          </a:xfrm>
          <a:prstGeom prst="rect">
            <a:avLst/>
          </a:prstGeom>
          <a:noFill/>
          <a:ln/>
        </p:spPr>
        <p:txBody>
          <a:bodyPr wrap="square" lIns="0" tIns="0" rIns="0" bIns="0" rtlCol="0" anchor="ctr"/>
          <a:lstStyle/>
          <a:p>
            <a:pPr indent="0" marL="0">
              <a:buNone/>
            </a:pPr>
            <a:r>
              <a:rPr lang="en-US" sz="1250" b="1" dirty="0">
                <a:solidFill>
                  <a:srgbClr val="028090"/>
                </a:solidFill>
                <a:latin typeface="Cambria" pitchFamily="34" charset="0"/>
                <a:ea typeface="Cambria" pitchFamily="34" charset="-122"/>
                <a:cs typeface="Cambria" pitchFamily="34" charset="-120"/>
              </a:rPr>
              <a:t>6.  Fuse and sense divider</a:t>
            </a:r>
            <a:endParaRPr lang="en-US" sz="1250" dirty="0"/>
          </a:p>
        </p:txBody>
      </p:sp>
      <p:sp>
        <p:nvSpPr>
          <p:cNvPr id="28" name="Text 26"/>
          <p:cNvSpPr/>
          <p:nvPr/>
        </p:nvSpPr>
        <p:spPr>
          <a:xfrm>
            <a:off x="8302752" y="4453128"/>
            <a:ext cx="3136392" cy="1143000"/>
          </a:xfrm>
          <a:prstGeom prst="rect">
            <a:avLst/>
          </a:prstGeom>
          <a:noFill/>
          <a:ln/>
        </p:spPr>
        <p:txBody>
          <a:bodyPr wrap="square" lIns="0" tIns="0" rIns="0" bIns="0" rtlCol="0" anchor="t"/>
          <a:lstStyle/>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Steady current  I = P / V = 25 / 12 = 2.1 A  →  3 A fuse</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Divider for a 20 V worst case into a 3.3 V input:</a:t>
            </a:r>
            <a:endParaRPr lang="en-US" sz="1050" dirty="0"/>
          </a:p>
          <a:p>
            <a:pPr indent="0" marL="0">
              <a:spcAft>
                <a:spcPts val="400"/>
              </a:spcAft>
              <a:buNone/>
            </a:pPr>
            <a:r>
              <a:rPr lang="en-US" sz="1050" dirty="0">
                <a:solidFill>
                  <a:srgbClr val="16302E"/>
                </a:solidFill>
                <a:latin typeface="Calibri" pitchFamily="34" charset="0"/>
                <a:ea typeface="Calibri" pitchFamily="34" charset="-122"/>
                <a:cs typeface="Calibri" pitchFamily="34" charset="-120"/>
              </a:rPr>
              <a:t>68 kΩ and 10 kΩ  →  20 × 10 / 78 = 2.6 V</a:t>
            </a:r>
            <a:endParaRPr lang="en-US" sz="1050" dirty="0"/>
          </a:p>
        </p:txBody>
      </p:sp>
      <p:sp>
        <p:nvSpPr>
          <p:cNvPr id="29" name="Text 27"/>
          <p:cNvSpPr/>
          <p:nvPr/>
        </p:nvSpPr>
        <p:spPr>
          <a:xfrm>
            <a:off x="8302752" y="5650992"/>
            <a:ext cx="3136392" cy="402336"/>
          </a:xfrm>
          <a:prstGeom prst="rect">
            <a:avLst/>
          </a:prstGeom>
          <a:noFill/>
          <a:ln/>
        </p:spPr>
        <p:txBody>
          <a:bodyPr wrap="square" lIns="0" tIns="0" rIns="0" bIns="0" rtlCol="0" anchor="t"/>
          <a:lstStyle/>
          <a:p>
            <a:pPr indent="0" marL="0">
              <a:buNone/>
            </a:pPr>
            <a:r>
              <a:rPr lang="en-US" sz="950" i="1" dirty="0">
                <a:solidFill>
                  <a:srgbClr val="5B7370"/>
                </a:solidFill>
                <a:latin typeface="Calibri" pitchFamily="34" charset="0"/>
                <a:ea typeface="Calibri" pitchFamily="34" charset="-122"/>
                <a:cs typeface="Calibri" pitchFamily="34" charset="-120"/>
              </a:rPr>
              <a:t>Leaves headroom before the input is over-driven.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Materials list and budget</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3  |  PLANNING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623560" cy="914400"/>
        </p:xfrm>
        <a:graphic>
          <a:graphicData uri="http://schemas.openxmlformats.org/drawingml/2006/table">
            <a:tbl>
              <a:tblPr/>
              <a:tblGrid>
                <a:gridCol w="411480"/>
                <a:gridCol w="1874520"/>
                <a:gridCol w="2240280"/>
                <a:gridCol w="502920"/>
                <a:gridCol w="59436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Material or specification</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Qty</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Cost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Nose cone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3D printed PLA</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Blades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3D printed PLA, 600 mm</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Blade hub</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3D printed PLA</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Main shaft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8 mm bright steel rod, 200 mm</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Bearings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8 mm sealed ball bearing</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Driver gear, 24 tooth</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3D printed PLA, 2 mm module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Pinion, 10 tooth</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3D printed PLA, 2 mm module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Gearbox housing and cover</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3D printed PLA on a plywood plate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309360" y="1554480"/>
          <a:ext cx="5623560" cy="914400"/>
        </p:xfrm>
        <a:graphic>
          <a:graphicData uri="http://schemas.openxmlformats.org/drawingml/2006/table">
            <a:tbl>
              <a:tblPr/>
              <a:tblGrid>
                <a:gridCol w="411480"/>
                <a:gridCol w="1874520"/>
                <a:gridCol w="2240280"/>
                <a:gridCol w="502920"/>
                <a:gridCol w="59436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Material or specification</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Qty</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Cost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DC generator</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Permanent magnet DC motor run as a generator</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Base plate and tower</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25 mm steel tube, plywood base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$22</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Controller board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Microcontroller board and protoboard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Rectifier, capacitor, resistors, fuse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Passive components and holder</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 set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Switching devices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Logic-level transistor with heatsink</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Battery</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12 V 7 Ah sealed lead acid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Dump load resistor</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5.6 Ω, 50 W wirewound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Wiring, connectors, fasteners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Cable, terminals, M4 hardware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 set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974336"/>
            <a:ext cx="11091672" cy="18288"/>
          </a:xfrm>
          <a:prstGeom prst="rect">
            <a:avLst/>
          </a:prstGeom>
          <a:solidFill>
            <a:srgbClr val="0B2E33"/>
          </a:solidFill>
          <a:ln w="12700">
            <a:solidFill>
              <a:srgbClr val="0B2E33"/>
            </a:solidFill>
            <a:prstDash val="solid"/>
          </a:ln>
        </p:spPr>
      </p:sp>
      <p:sp>
        <p:nvSpPr>
          <p:cNvPr id="9" name="Text 5"/>
          <p:cNvSpPr/>
          <p:nvPr/>
        </p:nvSpPr>
        <p:spPr>
          <a:xfrm>
            <a:off x="548640" y="5084064"/>
            <a:ext cx="3657600" cy="274320"/>
          </a:xfrm>
          <a:prstGeom prst="rect">
            <a:avLst/>
          </a:prstGeom>
          <a:noFill/>
          <a:ln/>
        </p:spPr>
        <p:txBody>
          <a:bodyPr wrap="square" lIns="0" tIns="0" rIns="0" bIns="0" rtlCol="0" anchor="ctr"/>
          <a:lstStyle/>
          <a:p>
            <a:pPr indent="0" marL="0">
              <a:buNone/>
            </a:pPr>
            <a:r>
              <a:rPr lang="en-US" sz="1000" b="1" spc="140" kern="0" dirty="0">
                <a:solidFill>
                  <a:srgbClr val="5B7370"/>
                </a:solidFill>
                <a:latin typeface="Calibri" pitchFamily="34" charset="0"/>
                <a:ea typeface="Calibri" pitchFamily="34" charset="-122"/>
                <a:cs typeface="Calibri" pitchFamily="34" charset="-120"/>
              </a:rPr>
              <a:t>TOTAL BUILD COST</a:t>
            </a:r>
            <a:endParaRPr lang="en-US" sz="1000" dirty="0"/>
          </a:p>
        </p:txBody>
      </p:sp>
      <p:sp>
        <p:nvSpPr>
          <p:cNvPr id="10" name="Text 6"/>
          <p:cNvSpPr/>
          <p:nvPr/>
        </p:nvSpPr>
        <p:spPr>
          <a:xfrm>
            <a:off x="548640" y="5321808"/>
            <a:ext cx="2011680" cy="548640"/>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$155</a:t>
            </a:r>
            <a:endParaRPr lang="en-US" sz="3200" dirty="0"/>
          </a:p>
        </p:txBody>
      </p:sp>
      <p:sp>
        <p:nvSpPr>
          <p:cNvPr id="11" name="Text 7"/>
          <p:cNvSpPr/>
          <p:nvPr/>
        </p:nvSpPr>
        <p:spPr>
          <a:xfrm>
            <a:off x="2560320" y="5321808"/>
            <a:ext cx="4937760" cy="548640"/>
          </a:xfrm>
          <a:prstGeom prst="rect">
            <a:avLst/>
          </a:prstGeom>
          <a:noFill/>
          <a:ln/>
        </p:spPr>
        <p:txBody>
          <a:bodyPr wrap="square" lIns="0" tIns="0" rIns="0" bIns="0" rtlCol="0" anchor="ctr"/>
          <a:lstStyle/>
          <a:p>
            <a:pPr indent="0" marL="0">
              <a:buNone/>
            </a:pPr>
            <a:r>
              <a:rPr lang="en-US" sz="1200" dirty="0">
                <a:solidFill>
                  <a:srgbClr val="16302E"/>
                </a:solidFill>
                <a:latin typeface="Calibri" pitchFamily="34" charset="0"/>
                <a:ea typeface="Calibri" pitchFamily="34" charset="-122"/>
                <a:cs typeface="Calibri" pitchFamily="34" charset="-120"/>
              </a:rPr>
              <a:t>against a $180 budget, leaving $25 for reprints and replacement parts</a:t>
            </a:r>
            <a:endParaRPr lang="en-US" sz="1200" dirty="0"/>
          </a:p>
        </p:txBody>
      </p:sp>
      <p:sp>
        <p:nvSpPr>
          <p:cNvPr id="12" name="Text 8"/>
          <p:cNvSpPr/>
          <p:nvPr/>
        </p:nvSpPr>
        <p:spPr>
          <a:xfrm>
            <a:off x="7589520" y="5029200"/>
            <a:ext cx="4050792" cy="1280160"/>
          </a:xfrm>
          <a:prstGeom prst="rect">
            <a:avLst/>
          </a:prstGeom>
          <a:noFill/>
          <a:ln/>
        </p:spPr>
        <p:txBody>
          <a:bodyPr wrap="square" lIns="0" tIns="0" rIns="0" bIns="0" rtlCol="0" anchor="t"/>
          <a:lstStyle/>
          <a:p>
            <a:pPr indent="0" marL="0">
              <a:buNone/>
            </a:pPr>
            <a:r>
              <a:rPr lang="en-US" sz="1050" dirty="0">
                <a:solidFill>
                  <a:srgbClr val="5B7370"/>
                </a:solidFill>
                <a:latin typeface="Calibri" pitchFamily="34" charset="0"/>
                <a:ea typeface="Calibri" pitchFamily="34" charset="-122"/>
                <a:cs typeface="Calibri" pitchFamily="34" charset="-120"/>
              </a:rPr>
              <a:t>Sustainability audit: items 1, 2, 3, 6, 7 and 8 are printed PLA and can be reground. Items 4, 5, 9, 10 and 13 are metal and recyclable, and item 14 goes to a lead-acid recycler. Twelve of sixteen lines, or 75 per cent, are recyclable or reusable, which meets EC7.</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Work plan and milestones</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3  |  PLANNING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15</a:t>
            </a:r>
            <a:endParaRPr lang="en-US" sz="900" dirty="0"/>
          </a:p>
        </p:txBody>
      </p:sp>
      <p:pic>
        <p:nvPicPr>
          <p:cNvPr id="6" name="Image 0" descr="images/gantt.png">    </p:cNvPr>
          <p:cNvPicPr>
            <a:picLocks noChangeAspect="1"/>
          </p:cNvPicPr>
          <p:nvPr/>
        </p:nvPicPr>
        <p:blipFill>
          <a:blip r:embed="rId1"/>
          <a:stretch>
            <a:fillRect/>
          </a:stretch>
        </p:blipFill>
        <p:spPr>
          <a:xfrm>
            <a:off x="1871320" y="1463040"/>
            <a:ext cx="8449056" cy="4297365"/>
          </a:xfrm>
          <a:prstGeom prst="rect">
            <a:avLst/>
          </a:prstGeom>
        </p:spPr>
      </p:pic>
      <p:sp>
        <p:nvSpPr>
          <p:cNvPr id="7" name="Shape 4"/>
          <p:cNvSpPr/>
          <p:nvPr/>
        </p:nvSpPr>
        <p:spPr>
          <a:xfrm>
            <a:off x="548640" y="5852160"/>
            <a:ext cx="11091672" cy="566928"/>
          </a:xfrm>
          <a:prstGeom prst="rect">
            <a:avLst/>
          </a:prstGeom>
          <a:solidFill>
            <a:srgbClr val="EAF5F2"/>
          </a:solidFill>
          <a:ln w="12700">
            <a:solidFill>
              <a:srgbClr val="BFE3DA"/>
            </a:solidFill>
            <a:prstDash val="solid"/>
          </a:ln>
        </p:spPr>
      </p:sp>
      <p:sp>
        <p:nvSpPr>
          <p:cNvPr id="8" name="Text 5"/>
          <p:cNvSpPr/>
          <p:nvPr/>
        </p:nvSpPr>
        <p:spPr>
          <a:xfrm>
            <a:off x="804672" y="5852160"/>
            <a:ext cx="10579608" cy="566928"/>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Reading the chart:  </a:t>
            </a:r>
            <a:pPr indent="0" marL="0">
              <a:buNone/>
            </a:pPr>
            <a:r>
              <a:rPr lang="en-US" sz="1100" dirty="0">
                <a:solidFill>
                  <a:srgbClr val="16302E"/>
                </a:solidFill>
                <a:latin typeface="Calibri" pitchFamily="34" charset="0"/>
                <a:ea typeface="Calibri" pitchFamily="34" charset="-122"/>
                <a:cs typeface="Calibri" pitchFamily="34" charset="-120"/>
              </a:rPr>
              <a:t>solid teal is complete, green is in progress, pale teal is still scheduled, diamonds are the five milestones and the dashed red line is the current week. Modelling and printing are front-loaded so a failed print surfaces before the electronics work starts, and testing gets two full weeks because wind conditions cannot be scheduled.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Safety and risk assessment</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3  |  PLANNING</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040880" cy="914400"/>
        </p:xfrm>
        <a:graphic>
          <a:graphicData uri="http://schemas.openxmlformats.org/drawingml/2006/table">
            <a:tbl>
              <a:tblPr/>
              <a:tblGrid>
                <a:gridCol w="457200"/>
                <a:gridCol w="1691640"/>
                <a:gridCol w="3246120"/>
                <a:gridCol w="1645920"/>
              </a:tblGrid>
              <a:tr h="36576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Hazard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Control measure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Hierarchy level</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r>
              <a:tr h="713232">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R1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Blade or rotor strikes a person</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Turbine mounted on a 3 m pole, out of reach, with rounded blade tips and a rotor lock for maintenance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Isolation</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R2</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Gear train traps fingers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The mesh runs inside a closed printed housing that needs a tool to open</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Engineering</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R3</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Battery overcharges, vents or overheats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Controller stops charging at 14.4 V, and a fused output limits fault current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Engineering</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R4</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Rotor overspeeds in a gust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Dump load absorbs surplus energy and brakes the rotor electrically as the bus voltage climbs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Engineering</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R5</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Burns and fumes while soldering</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Bench soldering with fume extraction, iron always returned to its stand, safety glasses worn</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Administrative and PPE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R6</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Cuts while trimming printed parts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Cutting on a mat away from the body, with a fresh blade and cut-resistant glove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Administrative and PPE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bl>
          </a:graphicData>
        </a:graphic>
      </p:graphicFrame>
      <p:pic>
        <p:nvPicPr>
          <p:cNvPr id="7" name="Image 0" descr="images/risk_matrix.png">    </p:cNvPr>
          <p:cNvPicPr>
            <a:picLocks noChangeAspect="1"/>
          </p:cNvPicPr>
          <p:nvPr/>
        </p:nvPicPr>
        <p:blipFill>
          <a:blip r:embed="rId1"/>
          <a:stretch>
            <a:fillRect/>
          </a:stretch>
        </p:blipFill>
        <p:spPr>
          <a:xfrm>
            <a:off x="7772400" y="1554480"/>
            <a:ext cx="3749040" cy="2291080"/>
          </a:xfrm>
          <a:prstGeom prst="rect">
            <a:avLst/>
          </a:prstGeom>
        </p:spPr>
      </p:pic>
      <p:sp>
        <p:nvSpPr>
          <p:cNvPr id="8" name="Shape 4"/>
          <p:cNvSpPr/>
          <p:nvPr/>
        </p:nvSpPr>
        <p:spPr>
          <a:xfrm>
            <a:off x="7772400" y="4028440"/>
            <a:ext cx="3749040" cy="2235200"/>
          </a:xfrm>
          <a:prstGeom prst="rect">
            <a:avLst/>
          </a:prstGeom>
          <a:solidFill>
            <a:srgbClr val="EAF5F2"/>
          </a:solidFill>
          <a:ln w="12700">
            <a:solidFill>
              <a:srgbClr val="BFE3DA"/>
            </a:solidFill>
            <a:prstDash val="solid"/>
          </a:ln>
        </p:spPr>
      </p:sp>
      <p:sp>
        <p:nvSpPr>
          <p:cNvPr id="9" name="Text 5"/>
          <p:cNvSpPr/>
          <p:nvPr/>
        </p:nvSpPr>
        <p:spPr>
          <a:xfrm>
            <a:off x="7955280" y="4174744"/>
            <a:ext cx="3383280" cy="2006600"/>
          </a:xfrm>
          <a:prstGeom prst="rect">
            <a:avLst/>
          </a:prstGeom>
          <a:noFill/>
          <a:ln/>
        </p:spPr>
        <p:txBody>
          <a:bodyPr wrap="square" lIns="0" tIns="0" rIns="0" bIns="0" rtlCol="0" anchor="t"/>
          <a:lstStyle/>
          <a:p>
            <a:pPr indent="0" marL="0">
              <a:buNone/>
            </a:pPr>
            <a:r>
              <a:rPr lang="en-US" sz="1050" b="1" dirty="0">
                <a:solidFill>
                  <a:srgbClr val="0B2E33"/>
                </a:solidFill>
                <a:latin typeface="Calibri" pitchFamily="34" charset="0"/>
                <a:ea typeface="Calibri" pitchFamily="34" charset="-122"/>
                <a:cs typeface="Calibri" pitchFamily="34" charset="-120"/>
              </a:rPr>
              <a:t>Hierarchy of control</a:t>
            </a:r>
            <a:endParaRPr lang="en-US" sz="1050" dirty="0"/>
          </a:p>
          <a:p>
            <a:pPr indent="0" marL="0">
              <a:buNone/>
            </a:pPr>
            <a:endParaRPr lang="en-US" sz="1050" dirty="0"/>
          </a:p>
          <a:p>
            <a:pPr indent="0" marL="0">
              <a:buNone/>
            </a:pPr>
            <a:r>
              <a:rPr lang="en-US" sz="1050" dirty="0">
                <a:solidFill>
                  <a:srgbClr val="16302E"/>
                </a:solidFill>
                <a:latin typeface="Calibri" pitchFamily="34" charset="0"/>
                <a:ea typeface="Calibri" pitchFamily="34" charset="-122"/>
                <a:cs typeface="Calibri" pitchFamily="34" charset="-120"/>
              </a:rPr>
              <a:t>Elimination is not available here, since the hazard is the moving rotor the system exists to turn. Every risk is therefore pushed as far up the hierarchy as the design allows, which is isolation for R1 and engineering controls for R2 to R4. Only the workshop hazards fall back to administrative controls and personal protective equipment.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Building the system</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4  |  IMPLEMENTING PROCESSES AND TOOLS</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48640" y="1554480"/>
            <a:ext cx="3538728" cy="4709160"/>
          </a:xfrm>
          <a:prstGeom prst="rect">
            <a:avLst/>
          </a:prstGeom>
          <a:solidFill>
            <a:srgbClr val="FFFFFF"/>
          </a:solidFill>
          <a:ln w="12700">
            <a:solidFill>
              <a:srgbClr val="DDE6E4"/>
            </a:solidFill>
            <a:prstDash val="solid"/>
          </a:ln>
        </p:spPr>
      </p:sp>
      <p:sp>
        <p:nvSpPr>
          <p:cNvPr id="7" name="Shape 5"/>
          <p:cNvSpPr/>
          <p:nvPr/>
        </p:nvSpPr>
        <p:spPr>
          <a:xfrm>
            <a:off x="786384" y="1810512"/>
            <a:ext cx="329184" cy="329184"/>
          </a:xfrm>
          <a:prstGeom prst="ellipse">
            <a:avLst/>
          </a:prstGeom>
          <a:solidFill>
            <a:srgbClr val="028090"/>
          </a:solidFill>
          <a:ln w="12700">
            <a:solidFill>
              <a:srgbClr val="028090"/>
            </a:solidFill>
            <a:prstDash val="solid"/>
          </a:ln>
        </p:spPr>
      </p:sp>
      <p:sp>
        <p:nvSpPr>
          <p:cNvPr id="8" name="Text 6"/>
          <p:cNvSpPr/>
          <p:nvPr/>
        </p:nvSpPr>
        <p:spPr>
          <a:xfrm>
            <a:off x="786384"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43584" y="1773936"/>
            <a:ext cx="262432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Production processes</a:t>
            </a:r>
            <a:endParaRPr lang="en-US" sz="1400" dirty="0"/>
          </a:p>
        </p:txBody>
      </p:sp>
      <p:sp>
        <p:nvSpPr>
          <p:cNvPr id="10" name="Text 8"/>
          <p:cNvSpPr/>
          <p:nvPr/>
        </p:nvSpPr>
        <p:spPr>
          <a:xfrm>
            <a:off x="822960" y="2212848"/>
            <a:ext cx="3063240" cy="393192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Gears, hub, blades and housing printed in PLA at 40 per cent infill, gears printed flat so the layer lines run across the tooth face</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Shaft cut and deburred on the lathe, then bearing seats reamed to an 8 mm slip fit</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Tower tube drilled and bolted to the plywood base plate through the drill press</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Controller assembled on protoboard, soldered joint by joint and continuity checked before power is applied</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Subsystems bolted to the base plate with M4 hardware, so any one of them can be removed on its own</a:t>
            </a:r>
            <a:endParaRPr lang="en-US" sz="1050" dirty="0"/>
          </a:p>
        </p:txBody>
      </p:sp>
      <p:sp>
        <p:nvSpPr>
          <p:cNvPr id="11" name="Shape 9"/>
          <p:cNvSpPr/>
          <p:nvPr/>
        </p:nvSpPr>
        <p:spPr>
          <a:xfrm>
            <a:off x="4325112" y="1554480"/>
            <a:ext cx="3538728" cy="4709160"/>
          </a:xfrm>
          <a:prstGeom prst="rect">
            <a:avLst/>
          </a:prstGeom>
          <a:solidFill>
            <a:srgbClr val="FFFFFF"/>
          </a:solidFill>
          <a:ln w="12700">
            <a:solidFill>
              <a:srgbClr val="DDE6E4"/>
            </a:solidFill>
            <a:prstDash val="solid"/>
          </a:ln>
        </p:spPr>
      </p:sp>
      <p:sp>
        <p:nvSpPr>
          <p:cNvPr id="12" name="Shape 10"/>
          <p:cNvSpPr/>
          <p:nvPr/>
        </p:nvSpPr>
        <p:spPr>
          <a:xfrm>
            <a:off x="4562856" y="1810512"/>
            <a:ext cx="329184" cy="329184"/>
          </a:xfrm>
          <a:prstGeom prst="ellipse">
            <a:avLst/>
          </a:prstGeom>
          <a:solidFill>
            <a:srgbClr val="028090"/>
          </a:solidFill>
          <a:ln w="12700">
            <a:solidFill>
              <a:srgbClr val="028090"/>
            </a:solidFill>
            <a:prstDash val="solid"/>
          </a:ln>
        </p:spPr>
      </p:sp>
      <p:sp>
        <p:nvSpPr>
          <p:cNvPr id="13" name="Text 11"/>
          <p:cNvSpPr/>
          <p:nvPr/>
        </p:nvSpPr>
        <p:spPr>
          <a:xfrm>
            <a:off x="4562856"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5020056" y="1773936"/>
            <a:ext cx="262432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Tools and OHS compliance</a:t>
            </a:r>
            <a:endParaRPr lang="en-US" sz="1400" dirty="0"/>
          </a:p>
        </p:txBody>
      </p:sp>
      <p:sp>
        <p:nvSpPr>
          <p:cNvPr id="15" name="Text 13"/>
          <p:cNvSpPr/>
          <p:nvPr/>
        </p:nvSpPr>
        <p:spPr>
          <a:xfrm>
            <a:off x="4599432" y="2212848"/>
            <a:ext cx="3063240" cy="393192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Printer enclosure kept shut while the hot end is above 60 °C</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Lathe and drill press used with guards fitted, long hair tied back, no gloves near rotating tooling</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Soldering done with fume extraction running and safety glasses on</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A current-limited bench supply used for every electronics test, so a wiring fault trips the limit instead of heating the board</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Every session logged with the hazards present and the controls used, as planned in Criterion 3</a:t>
            </a:r>
            <a:endParaRPr lang="en-US" sz="1050" dirty="0"/>
          </a:p>
        </p:txBody>
      </p:sp>
      <p:sp>
        <p:nvSpPr>
          <p:cNvPr id="16" name="Shape 14"/>
          <p:cNvSpPr/>
          <p:nvPr/>
        </p:nvSpPr>
        <p:spPr>
          <a:xfrm>
            <a:off x="8101584" y="1554480"/>
            <a:ext cx="3538728" cy="4709160"/>
          </a:xfrm>
          <a:prstGeom prst="rect">
            <a:avLst/>
          </a:prstGeom>
          <a:solidFill>
            <a:srgbClr val="FFFFFF"/>
          </a:solidFill>
          <a:ln w="12700">
            <a:solidFill>
              <a:srgbClr val="DDE6E4"/>
            </a:solidFill>
            <a:prstDash val="solid"/>
          </a:ln>
        </p:spPr>
      </p:sp>
      <p:sp>
        <p:nvSpPr>
          <p:cNvPr id="17" name="Shape 15"/>
          <p:cNvSpPr/>
          <p:nvPr/>
        </p:nvSpPr>
        <p:spPr>
          <a:xfrm>
            <a:off x="8339328" y="1810512"/>
            <a:ext cx="329184" cy="329184"/>
          </a:xfrm>
          <a:prstGeom prst="ellipse">
            <a:avLst/>
          </a:prstGeom>
          <a:solidFill>
            <a:srgbClr val="028090"/>
          </a:solidFill>
          <a:ln w="12700">
            <a:solidFill>
              <a:srgbClr val="028090"/>
            </a:solidFill>
            <a:prstDash val="solid"/>
          </a:ln>
        </p:spPr>
      </p:sp>
      <p:sp>
        <p:nvSpPr>
          <p:cNvPr id="18" name="Text 16"/>
          <p:cNvSpPr/>
          <p:nvPr/>
        </p:nvSpPr>
        <p:spPr>
          <a:xfrm>
            <a:off x="8339328"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8796528" y="1773936"/>
            <a:ext cx="262432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Risk management in practice</a:t>
            </a:r>
            <a:endParaRPr lang="en-US" sz="1400" dirty="0"/>
          </a:p>
        </p:txBody>
      </p:sp>
      <p:sp>
        <p:nvSpPr>
          <p:cNvPr id="20" name="Text 18"/>
          <p:cNvSpPr/>
          <p:nvPr/>
        </p:nvSpPr>
        <p:spPr>
          <a:xfrm>
            <a:off x="8375904" y="2212848"/>
            <a:ext cx="3063240" cy="393192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First pinion print stripped under load, so the second was printed at 60 per cent infill with three perimeters</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Gear mesh ran noisy until the centre distance was corrected by 0.4 mm, which also removed a vibration felt in the tower</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A wiring short during bench testing tripped the supply's current limit rather than damaging the board, which is exactly what the control was for</a:t>
            </a:r>
            <a:endParaRPr lang="en-US" sz="1050" dirty="0"/>
          </a:p>
          <a:p>
            <a:pPr marL="342900" indent="-342900">
              <a:spcAft>
                <a:spcPts val="800"/>
              </a:spcAft>
              <a:buSzPct val="100000"/>
              <a:buChar char="•"/>
            </a:pPr>
            <a:r>
              <a:rPr lang="en-US" sz="1050" dirty="0">
                <a:solidFill>
                  <a:srgbClr val="16302E"/>
                </a:solidFill>
                <a:latin typeface="Calibri" pitchFamily="34" charset="0"/>
                <a:ea typeface="Calibri" pitchFamily="34" charset="-122"/>
                <a:cs typeface="Calibri" pitchFamily="34" charset="-120"/>
              </a:rPr>
              <a:t>Build stages photographed as evidence of safe practice and to support the modification log</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Testing against the evaluation criteria</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5  |  REALISATION OF THE SYSTEM</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903720" cy="914400"/>
        </p:xfrm>
        <a:graphic>
          <a:graphicData uri="http://schemas.openxmlformats.org/drawingml/2006/table">
            <a:tbl>
              <a:tblPr/>
              <a:tblGrid>
                <a:gridCol w="457200"/>
                <a:gridCol w="1417320"/>
                <a:gridCol w="2377440"/>
                <a:gridCol w="1691640"/>
                <a:gridCol w="96012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Target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Method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0B2E33"/>
                    </a:solidFill>
                  </a:tcPr>
                </a:tc>
              </a:tr>
              <a:tr h="41148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EC1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12 V or more at 6 m/s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Bus voltage measured while the rotor was driven at 478 rpm on the bench</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12.6 V open circuit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b="1" dirty="0">
                          <a:solidFill>
                            <a:srgbClr val="1A7A3A"/>
                          </a:solidFill>
                          <a:latin typeface="Calibri" pitchFamily="34" charset="0"/>
                          <a:ea typeface="Calibri" pitchFamily="34" charset="-122"/>
                          <a:cs typeface="Calibri" pitchFamily="34" charset="-120"/>
                        </a:rPr>
                        <a:t>Met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EC2</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Step-up ratio 2.4 : 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Optical tachometer on both shafts, ten runs averaged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2.37 : 1, which is 1.3 per cent low</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b="1" dirty="0">
                          <a:solidFill>
                            <a:srgbClr val="1A7A3A"/>
                          </a:solidFill>
                          <a:latin typeface="Calibri" pitchFamily="34" charset="0"/>
                          <a:ea typeface="Calibri" pitchFamily="34" charset="-122"/>
                          <a:cs typeface="Calibri" pitchFamily="34" charset="-120"/>
                        </a:rPr>
                        <a:t>Met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EC3</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Three output paths switch</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Bus voltage swept from 10 V to 15 V, path carrying current logged at each step</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All three paths switched on demand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b="1" dirty="0">
                          <a:solidFill>
                            <a:srgbClr val="1A7A3A"/>
                          </a:solidFill>
                          <a:latin typeface="Calibri" pitchFamily="34" charset="0"/>
                          <a:ea typeface="Calibri" pitchFamily="34" charset="-122"/>
                          <a:cs typeface="Calibri" pitchFamily="34" charset="-120"/>
                        </a:rPr>
                        <a:t>Met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EC4</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Charging stops at 14.4 V</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Bench supply on the sense input, thresholds recorded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Stopped at 14.35 V, resumed at 13.2 V</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b="1" dirty="0">
                          <a:solidFill>
                            <a:srgbClr val="1A7A3A"/>
                          </a:solidFill>
                          <a:latin typeface="Calibri" pitchFamily="34" charset="0"/>
                          <a:ea typeface="Calibri" pitchFamily="34" charset="-122"/>
                          <a:cs typeface="Calibri" pitchFamily="34" charset="-120"/>
                        </a:rPr>
                        <a:t>Met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EC5</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Guarded and fused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Guard inspection against the risk register, plus a fuse and continuity check</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Housing closed, 3 A fuse fitted, no conductor above 24 V</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b="1" dirty="0">
                          <a:solidFill>
                            <a:srgbClr val="1A7A3A"/>
                          </a:solidFill>
                          <a:latin typeface="Calibri" pitchFamily="34" charset="0"/>
                          <a:ea typeface="Calibri" pitchFamily="34" charset="-122"/>
                          <a:cs typeface="Calibri" pitchFamily="34" charset="-120"/>
                        </a:rPr>
                        <a:t>Met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EC6</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$180 or under</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Final materials list summed against receipts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$155</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b="1" dirty="0">
                          <a:solidFill>
                            <a:srgbClr val="1A7A3A"/>
                          </a:solidFill>
                          <a:latin typeface="Calibri" pitchFamily="34" charset="0"/>
                          <a:ea typeface="Calibri" pitchFamily="34" charset="-122"/>
                          <a:cs typeface="Calibri" pitchFamily="34" charset="-120"/>
                        </a:rPr>
                        <a:t>Met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EC7</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70 per cent recyclable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Materials list audited by material type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75 per cent of lines recyclable or reusable</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b="1" dirty="0">
                          <a:solidFill>
                            <a:srgbClr val="1A7A3A"/>
                          </a:solidFill>
                          <a:latin typeface="Calibri" pitchFamily="34" charset="0"/>
                          <a:ea typeface="Calibri" pitchFamily="34" charset="-122"/>
                          <a:cs typeface="Calibri" pitchFamily="34" charset="-120"/>
                        </a:rPr>
                        <a:t>Met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EC1</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Output in real wind</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Log output on site across a week of varying conditions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Bench only so far, no site data yet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b="1" dirty="0">
                          <a:solidFill>
                            <a:srgbClr val="922B21"/>
                          </a:solidFill>
                          <a:latin typeface="Calibri" pitchFamily="34" charset="0"/>
                          <a:ea typeface="Calibri" pitchFamily="34" charset="-122"/>
                          <a:cs typeface="Calibri" pitchFamily="34" charset="-120"/>
                        </a:rPr>
                        <a:t>Outstanding</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EC5</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Survives sustained gusts</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Run through a full storm cycle and re-inspect the mount</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dirty="0">
                          <a:solidFill>
                            <a:srgbClr val="16302E"/>
                          </a:solidFill>
                          <a:latin typeface="Calibri" pitchFamily="34" charset="0"/>
                          <a:ea typeface="Calibri" pitchFamily="34" charset="-122"/>
                          <a:cs typeface="Calibri" pitchFamily="34" charset="-120"/>
                        </a:rPr>
                        <a:t>One 40 minute run completed, longer runs pending</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c>
                  <a:txBody>
                    <a:bodyPr/>
                    <a:lstStyle/>
                    <a:p>
                      <a:pPr indent="0" marL="0">
                        <a:buNone/>
                      </a:pPr>
                      <a:r>
                        <a:rPr lang="en-US" sz="950" b="1" dirty="0">
                          <a:solidFill>
                            <a:srgbClr val="9A7D0A"/>
                          </a:solidFill>
                          <a:latin typeface="Calibri" pitchFamily="34" charset="0"/>
                          <a:ea typeface="Calibri" pitchFamily="34" charset="-122"/>
                          <a:cs typeface="Calibri" pitchFamily="34" charset="-120"/>
                        </a:rPr>
                        <a:t>Partial</a:t>
                      </a:r>
                      <a:endParaRPr lang="en-US" sz="950" dirty="0">
                        <a:latin typeface="Calibri" charset="0"/>
                        <a:ea typeface="Calibri" charset="0"/>
                        <a:cs typeface="Calibri" charset="0"/>
                      </a:endParaRPr>
                    </a:p>
                  </a:txBody>
                  <a:tcPr marL="91440" marR="91440" marT="45720" marB="45720" anchor="ctr">
                    <a:lnL w="0" cap="flat" cmpd="sng" algn="ctr">
                      <a:noFill/>
                    </a:lnL>
                    <a:lnR w="0" cap="flat" cmpd="sng" algn="ctr">
                      <a:noFill/>
                    </a:lnR>
                    <a:lnT w="9525" cap="flat" cmpd="sng" algn="ctr">
                      <a:solidFill>
                        <a:srgbClr val="D6E4E1"/>
                      </a:solidFill>
                      <a:prstDash val="solid"/>
                      <a:round/>
                      <a:headEnd type="none" w="med" len="med"/>
                      <a:tailEnd type="none" w="med" len="med"/>
                    </a:lnT>
                    <a:lnB w="9525" cap="flat" cmpd="sng" algn="ctr">
                      <a:solidFill>
                        <a:srgbClr val="D6E4E1"/>
                      </a:solidFill>
                      <a:prstDash val="solid"/>
                      <a:round/>
                      <a:headEnd type="none" w="med" len="med"/>
                      <a:tailEnd type="none" w="med" len="med"/>
                    </a:lnB>
                    <a:solidFill>
                      <a:srgbClr val="FFFFFF"/>
                    </a:solidFill>
                  </a:tcPr>
                </a:tc>
              </a:tr>
            </a:tbl>
          </a:graphicData>
        </a:graphic>
      </p:graphicFrame>
      <p:graphicFrame>
        <p:nvGraphicFramePr>
          <p:cNvPr id="7" name="Chart 0" descr=""/>
          <p:cNvGraphicFramePr/>
          <p:nvPr/>
        </p:nvGraphicFramePr>
        <p:xfrm>
          <a:off x="7635240" y="1554480"/>
          <a:ext cx="4005072" cy="306324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635240" y="4800600"/>
            <a:ext cx="4005072" cy="1463040"/>
          </a:xfrm>
          <a:prstGeom prst="rect">
            <a:avLst/>
          </a:prstGeom>
          <a:solidFill>
            <a:srgbClr val="EAF5F2"/>
          </a:solidFill>
          <a:ln w="12700">
            <a:solidFill>
              <a:srgbClr val="BFE3DA"/>
            </a:solidFill>
            <a:prstDash val="solid"/>
          </a:ln>
        </p:spPr>
      </p:sp>
      <p:sp>
        <p:nvSpPr>
          <p:cNvPr id="9" name="Text 5"/>
          <p:cNvSpPr/>
          <p:nvPr/>
        </p:nvSpPr>
        <p:spPr>
          <a:xfrm>
            <a:off x="7818120" y="4937760"/>
            <a:ext cx="3657600" cy="1234440"/>
          </a:xfrm>
          <a:prstGeom prst="rect">
            <a:avLst/>
          </a:prstGeom>
          <a:noFill/>
          <a:ln/>
        </p:spPr>
        <p:txBody>
          <a:bodyPr wrap="square" lIns="0" tIns="0" rIns="0" bIns="0" rtlCol="0" anchor="t"/>
          <a:lstStyle/>
          <a:p>
            <a:pPr indent="0" marL="0">
              <a:buNone/>
            </a:pPr>
            <a:r>
              <a:rPr lang="en-US" sz="1050" b="1" dirty="0">
                <a:solidFill>
                  <a:srgbClr val="0B2E33"/>
                </a:solidFill>
                <a:latin typeface="Calibri" pitchFamily="34" charset="0"/>
                <a:ea typeface="Calibri" pitchFamily="34" charset="-122"/>
                <a:cs typeface="Calibri" pitchFamily="34" charset="-120"/>
              </a:rPr>
              <a:t>What the data shows</a:t>
            </a:r>
            <a:endParaRPr lang="en-US" sz="1050" dirty="0"/>
          </a:p>
          <a:p>
            <a:pPr indent="0" marL="0">
              <a:buNone/>
            </a:pPr>
            <a:endParaRPr lang="en-US" sz="1050" dirty="0"/>
          </a:p>
          <a:p>
            <a:pPr indent="0" marL="0">
              <a:buNone/>
            </a:pPr>
            <a:r>
              <a:rPr lang="en-US" sz="1050" dirty="0">
                <a:solidFill>
                  <a:srgbClr val="16302E"/>
                </a:solidFill>
                <a:latin typeface="Calibri" pitchFamily="34" charset="0"/>
                <a:ea typeface="Calibri" pitchFamily="34" charset="-122"/>
                <a:cs typeface="Calibri" pitchFamily="34" charset="-120"/>
              </a:rPr>
              <a:t>Measured voltage tracks the prediction closely and falls only about 4 per cent short across the range, which is consistent with the gear mesh loss measured in EC2. The system clears the 12 V target at the design speed with margin.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Evaluation, modifications and recommendations</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CRITERION 5  |  REALISATION OF THE SYSTEM</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1536192"/>
            <a:ext cx="5458968" cy="2066544"/>
          </a:xfrm>
          <a:prstGeom prst="rect">
            <a:avLst/>
          </a:prstGeom>
          <a:solidFill>
            <a:srgbClr val="FFFFFF"/>
          </a:solidFill>
          <a:ln w="12700">
            <a:solidFill>
              <a:srgbClr val="DDE6E4"/>
            </a:solidFill>
            <a:prstDash val="solid"/>
          </a:ln>
        </p:spPr>
      </p:sp>
      <p:sp>
        <p:nvSpPr>
          <p:cNvPr id="7" name="Shape 5"/>
          <p:cNvSpPr/>
          <p:nvPr/>
        </p:nvSpPr>
        <p:spPr>
          <a:xfrm>
            <a:off x="786384" y="1792224"/>
            <a:ext cx="329184" cy="329184"/>
          </a:xfrm>
          <a:prstGeom prst="ellipse">
            <a:avLst/>
          </a:prstGeom>
          <a:solidFill>
            <a:srgbClr val="028090"/>
          </a:solidFill>
          <a:ln w="12700">
            <a:solidFill>
              <a:srgbClr val="028090"/>
            </a:solidFill>
            <a:prstDash val="solid"/>
          </a:ln>
        </p:spPr>
      </p:sp>
      <p:sp>
        <p:nvSpPr>
          <p:cNvPr id="8" name="Text 6"/>
          <p:cNvSpPr/>
          <p:nvPr/>
        </p:nvSpPr>
        <p:spPr>
          <a:xfrm>
            <a:off x="786384" y="1792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43584" y="1755648"/>
            <a:ext cx="454456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What the system achieves</a:t>
            </a:r>
            <a:endParaRPr lang="en-US" sz="1400" dirty="0"/>
          </a:p>
        </p:txBody>
      </p:sp>
      <p:sp>
        <p:nvSpPr>
          <p:cNvPr id="10" name="Text 8"/>
          <p:cNvSpPr/>
          <p:nvPr/>
        </p:nvSpPr>
        <p:spPr>
          <a:xfrm>
            <a:off x="822960" y="2103120"/>
            <a:ext cx="4983480" cy="1426464"/>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Produces 12.6 V at the design wind speed, clearing EC1 with margin</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The gear train delivers the ratio it was designed for, within 1.3 per cent</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The controller switches all three output paths without a person present, which is the requirement the brief turns on</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Built for $155 from parts that are 75 per cent recyclable</a:t>
            </a:r>
            <a:endParaRPr lang="en-US" sz="1050" dirty="0"/>
          </a:p>
        </p:txBody>
      </p:sp>
      <p:sp>
        <p:nvSpPr>
          <p:cNvPr id="11" name="Shape 9"/>
          <p:cNvSpPr/>
          <p:nvPr/>
        </p:nvSpPr>
        <p:spPr>
          <a:xfrm>
            <a:off x="6181344" y="1536192"/>
            <a:ext cx="5458968" cy="2066544"/>
          </a:xfrm>
          <a:prstGeom prst="rect">
            <a:avLst/>
          </a:prstGeom>
          <a:solidFill>
            <a:srgbClr val="FFFFFF"/>
          </a:solidFill>
          <a:ln w="12700">
            <a:solidFill>
              <a:srgbClr val="DDE6E4"/>
            </a:solidFill>
            <a:prstDash val="solid"/>
          </a:ln>
        </p:spPr>
      </p:sp>
      <p:sp>
        <p:nvSpPr>
          <p:cNvPr id="12" name="Shape 10"/>
          <p:cNvSpPr/>
          <p:nvPr/>
        </p:nvSpPr>
        <p:spPr>
          <a:xfrm>
            <a:off x="6419088" y="1792224"/>
            <a:ext cx="329184" cy="329184"/>
          </a:xfrm>
          <a:prstGeom prst="ellipse">
            <a:avLst/>
          </a:prstGeom>
          <a:solidFill>
            <a:srgbClr val="00A896"/>
          </a:solidFill>
          <a:ln w="12700">
            <a:solidFill>
              <a:srgbClr val="00A896"/>
            </a:solidFill>
            <a:prstDash val="solid"/>
          </a:ln>
        </p:spPr>
      </p:sp>
      <p:sp>
        <p:nvSpPr>
          <p:cNvPr id="13" name="Text 11"/>
          <p:cNvSpPr/>
          <p:nvPr/>
        </p:nvSpPr>
        <p:spPr>
          <a:xfrm>
            <a:off x="6419088" y="1792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6876288" y="1755648"/>
            <a:ext cx="454456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Modifications made and why</a:t>
            </a:r>
            <a:endParaRPr lang="en-US" sz="1400" dirty="0"/>
          </a:p>
        </p:txBody>
      </p:sp>
      <p:sp>
        <p:nvSpPr>
          <p:cNvPr id="15" name="Text 13"/>
          <p:cNvSpPr/>
          <p:nvPr/>
        </p:nvSpPr>
        <p:spPr>
          <a:xfrm>
            <a:off x="6455664" y="2103120"/>
            <a:ext cx="4983480" cy="1426464"/>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Pinion reprinted at 60 per cent infill after the first one stripped under load</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Gear centre distance corrected by 0.4 mm, which cut both the mesh noise and the vibration in the tower</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Heatsink added to the dump-load resistor after it reached 90 °C in a sustained shed test</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Sense divider changed from 47 kΩ to 68 kΩ so the controller input keeps headroom at a 20 V bus</a:t>
            </a:r>
            <a:endParaRPr lang="en-US" sz="1050" dirty="0"/>
          </a:p>
        </p:txBody>
      </p:sp>
      <p:sp>
        <p:nvSpPr>
          <p:cNvPr id="16" name="Shape 14"/>
          <p:cNvSpPr/>
          <p:nvPr/>
        </p:nvSpPr>
        <p:spPr>
          <a:xfrm>
            <a:off x="548640" y="3730752"/>
            <a:ext cx="5458968" cy="2066544"/>
          </a:xfrm>
          <a:prstGeom prst="rect">
            <a:avLst/>
          </a:prstGeom>
          <a:solidFill>
            <a:srgbClr val="FFFFFF"/>
          </a:solidFill>
          <a:ln w="12700">
            <a:solidFill>
              <a:srgbClr val="DDE6E4"/>
            </a:solidFill>
            <a:prstDash val="solid"/>
          </a:ln>
        </p:spPr>
      </p:sp>
      <p:sp>
        <p:nvSpPr>
          <p:cNvPr id="17" name="Shape 15"/>
          <p:cNvSpPr/>
          <p:nvPr/>
        </p:nvSpPr>
        <p:spPr>
          <a:xfrm>
            <a:off x="786384" y="3986784"/>
            <a:ext cx="329184" cy="329184"/>
          </a:xfrm>
          <a:prstGeom prst="ellipse">
            <a:avLst/>
          </a:prstGeom>
          <a:solidFill>
            <a:srgbClr val="9A7D0A"/>
          </a:solidFill>
          <a:ln w="12700">
            <a:solidFill>
              <a:srgbClr val="9A7D0A"/>
            </a:solidFill>
            <a:prstDash val="solid"/>
          </a:ln>
        </p:spPr>
      </p:sp>
      <p:sp>
        <p:nvSpPr>
          <p:cNvPr id="18" name="Text 16"/>
          <p:cNvSpPr/>
          <p:nvPr/>
        </p:nvSpPr>
        <p:spPr>
          <a:xfrm>
            <a:off x="786384" y="39867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243584" y="3950208"/>
            <a:ext cx="454456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What is still outstanding</a:t>
            </a:r>
            <a:endParaRPr lang="en-US" sz="1400" dirty="0"/>
          </a:p>
        </p:txBody>
      </p:sp>
      <p:sp>
        <p:nvSpPr>
          <p:cNvPr id="20" name="Text 18"/>
          <p:cNvSpPr/>
          <p:nvPr/>
        </p:nvSpPr>
        <p:spPr>
          <a:xfrm>
            <a:off x="822960" y="4297680"/>
            <a:ext cx="4983480" cy="1426464"/>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No site data yet: everything so far has been driven on the bench rather than by wind</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Long-duration gust testing incomplete, so bearing and mount wear is unproven</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No weather sealing on the controller enclosure, which the outdoor context requires</a:t>
            </a:r>
            <a:endParaRPr lang="en-US" sz="1050" dirty="0"/>
          </a:p>
        </p:txBody>
      </p:sp>
      <p:sp>
        <p:nvSpPr>
          <p:cNvPr id="21" name="Shape 19"/>
          <p:cNvSpPr/>
          <p:nvPr/>
        </p:nvSpPr>
        <p:spPr>
          <a:xfrm>
            <a:off x="6181344" y="3730752"/>
            <a:ext cx="5458968" cy="2066544"/>
          </a:xfrm>
          <a:prstGeom prst="rect">
            <a:avLst/>
          </a:prstGeom>
          <a:solidFill>
            <a:srgbClr val="FFFFFF"/>
          </a:solidFill>
          <a:ln w="12700">
            <a:solidFill>
              <a:srgbClr val="DDE6E4"/>
            </a:solidFill>
            <a:prstDash val="solid"/>
          </a:ln>
        </p:spPr>
      </p:sp>
      <p:sp>
        <p:nvSpPr>
          <p:cNvPr id="22" name="Shape 20"/>
          <p:cNvSpPr/>
          <p:nvPr/>
        </p:nvSpPr>
        <p:spPr>
          <a:xfrm>
            <a:off x="6419088" y="3986784"/>
            <a:ext cx="329184" cy="329184"/>
          </a:xfrm>
          <a:prstGeom prst="ellipse">
            <a:avLst/>
          </a:prstGeom>
          <a:solidFill>
            <a:srgbClr val="0B2E33"/>
          </a:solidFill>
          <a:ln w="12700">
            <a:solidFill>
              <a:srgbClr val="0B2E33"/>
            </a:solidFill>
            <a:prstDash val="solid"/>
          </a:ln>
        </p:spPr>
      </p:sp>
      <p:sp>
        <p:nvSpPr>
          <p:cNvPr id="23" name="Text 21"/>
          <p:cNvSpPr/>
          <p:nvPr/>
        </p:nvSpPr>
        <p:spPr>
          <a:xfrm>
            <a:off x="6419088" y="39867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876288" y="3950208"/>
            <a:ext cx="4544568" cy="402336"/>
          </a:xfrm>
          <a:prstGeom prst="rect">
            <a:avLst/>
          </a:prstGeom>
          <a:noFill/>
          <a:ln/>
        </p:spPr>
        <p:txBody>
          <a:bodyPr wrap="square" lIns="0" tIns="0" rIns="0" bIns="0" rtlCol="0" anchor="ctr"/>
          <a:lstStyle/>
          <a:p>
            <a:pPr indent="0" marL="0">
              <a:buNone/>
            </a:pPr>
            <a:r>
              <a:rPr lang="en-US" sz="1400" b="1" dirty="0">
                <a:solidFill>
                  <a:srgbClr val="0B2E33"/>
                </a:solidFill>
                <a:latin typeface="Cambria" pitchFamily="34" charset="0"/>
                <a:ea typeface="Cambria" pitchFamily="34" charset="-122"/>
                <a:cs typeface="Cambria" pitchFamily="34" charset="-120"/>
              </a:rPr>
              <a:t>Recommendations</a:t>
            </a:r>
            <a:endParaRPr lang="en-US" sz="1400" dirty="0"/>
          </a:p>
        </p:txBody>
      </p:sp>
      <p:sp>
        <p:nvSpPr>
          <p:cNvPr id="25" name="Text 23"/>
          <p:cNvSpPr/>
          <p:nvPr/>
        </p:nvSpPr>
        <p:spPr>
          <a:xfrm>
            <a:off x="6455664" y="4297680"/>
            <a:ext cx="4983480" cy="1426464"/>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Log a full week of site output before claiming EC1 in real conditions</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Fit a gasket and cable gland to the controller box, then repeat the ingress check</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Print the next pinion in a tougher filament and compare tooth wear against PLA</a:t>
            </a:r>
            <a:endParaRPr lang="en-US" sz="1050" dirty="0"/>
          </a:p>
          <a:p>
            <a:pPr marL="342900" indent="-342900">
              <a:spcAft>
                <a:spcPts val="400"/>
              </a:spcAft>
              <a:buSzPct val="100000"/>
              <a:buChar char="•"/>
            </a:pPr>
            <a:r>
              <a:rPr lang="en-US" sz="1050" dirty="0">
                <a:solidFill>
                  <a:srgbClr val="16302E"/>
                </a:solidFill>
                <a:latin typeface="Calibri" pitchFamily="34" charset="0"/>
                <a:ea typeface="Calibri" pitchFamily="34" charset="-122"/>
                <a:cs typeface="Calibri" pitchFamily="34" charset="-120"/>
              </a:rPr>
              <a:t>Add a small display so the household can see which path is active, which would make the control loop visible to the user</a:t>
            </a:r>
            <a:endParaRPr lang="en-US" sz="1050" dirty="0"/>
          </a:p>
        </p:txBody>
      </p:sp>
      <p:sp>
        <p:nvSpPr>
          <p:cNvPr id="26" name="Shape 24"/>
          <p:cNvSpPr/>
          <p:nvPr/>
        </p:nvSpPr>
        <p:spPr>
          <a:xfrm>
            <a:off x="548640" y="5943600"/>
            <a:ext cx="11091672" cy="502920"/>
          </a:xfrm>
          <a:prstGeom prst="rect">
            <a:avLst/>
          </a:prstGeom>
          <a:solidFill>
            <a:srgbClr val="EAF5F2"/>
          </a:solidFill>
          <a:ln w="12700">
            <a:solidFill>
              <a:srgbClr val="BFE3DA"/>
            </a:solidFill>
            <a:prstDash val="solid"/>
          </a:ln>
        </p:spPr>
      </p:sp>
      <p:sp>
        <p:nvSpPr>
          <p:cNvPr id="27" name="Text 25"/>
          <p:cNvSpPr/>
          <p:nvPr/>
        </p:nvSpPr>
        <p:spPr>
          <a:xfrm>
            <a:off x="804672" y="5943600"/>
            <a:ext cx="10579608" cy="5029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Conclusion:  </a:t>
            </a:r>
            <a:pPr indent="0" marL="0">
              <a:buNone/>
            </a:pPr>
            <a:r>
              <a:rPr lang="en-US" sz="1100" dirty="0">
                <a:solidFill>
                  <a:srgbClr val="16302E"/>
                </a:solidFill>
                <a:latin typeface="Calibri" pitchFamily="34" charset="0"/>
                <a:ea typeface="Calibri" pitchFamily="34" charset="-122"/>
                <a:cs typeface="Calibri" pitchFamily="34" charset="-120"/>
              </a:rPr>
              <a:t>all seven evaluation criteria are met on bench evidence, and two of them still need confirming in real wind. The concept holds up: a printed gear train and a low-cost controller can make small-scale wind generation both useful and safe.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7863840" cy="731520"/>
          </a:xfrm>
          <a:prstGeom prst="rect">
            <a:avLst/>
          </a:prstGeom>
          <a:noFill/>
          <a:ln/>
        </p:spPr>
        <p:txBody>
          <a:bodyPr wrap="square" lIns="0" tIns="0" rIns="0" bIns="0" rtlCol="0" anchor="ctr"/>
          <a:lstStyle/>
          <a:p>
            <a:pPr indent="0" marL="0">
              <a:buNone/>
            </a:pPr>
            <a:r>
              <a:rPr lang="en-US" sz="3100" b="1" dirty="0">
                <a:solidFill>
                  <a:srgbClr val="0B2E33"/>
                </a:solidFill>
                <a:latin typeface="Cambria" pitchFamily="34" charset="0"/>
                <a:ea typeface="Cambria" pitchFamily="34" charset="-122"/>
                <a:cs typeface="Cambria" pitchFamily="34" charset="-120"/>
              </a:rPr>
              <a:t>References (APA 7th edition)</a:t>
            </a:r>
            <a:endParaRPr lang="en-US" sz="3100" dirty="0"/>
          </a:p>
        </p:txBody>
      </p:sp>
      <p:sp>
        <p:nvSpPr>
          <p:cNvPr id="3" name="Text 1"/>
          <p:cNvSpPr/>
          <p:nvPr/>
        </p:nvSpPr>
        <p:spPr>
          <a:xfrm>
            <a:off x="7315200" y="566928"/>
            <a:ext cx="4325112" cy="512064"/>
          </a:xfrm>
          <a:prstGeom prst="rect">
            <a:avLst/>
          </a:prstGeom>
          <a:noFill/>
          <a:ln/>
        </p:spPr>
        <p:txBody>
          <a:bodyPr wrap="square" lIns="0" tIns="0" rIns="0" bIns="0" rtlCol="0" anchor="ctr"/>
          <a:lstStyle/>
          <a:p>
            <a:pPr algn="r" indent="0" marL="0">
              <a:buNone/>
            </a:pPr>
            <a:r>
              <a:rPr lang="en-US" sz="1000" spc="140" kern="0" dirty="0">
                <a:solidFill>
                  <a:srgbClr val="5B7370"/>
                </a:solidFill>
                <a:latin typeface="Calibri" pitchFamily="34" charset="0"/>
                <a:ea typeface="Calibri" pitchFamily="34" charset="-122"/>
                <a:cs typeface="Calibri" pitchFamily="34" charset="-120"/>
              </a:rPr>
              <a:t>REFERENCES</a:t>
            </a:r>
            <a:endParaRPr lang="en-US" sz="1000" dirty="0"/>
          </a:p>
        </p:txBody>
      </p:sp>
      <p:sp>
        <p:nvSpPr>
          <p:cNvPr id="4" name="Text 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5B7370"/>
                </a:solidFill>
                <a:latin typeface="Calibri" pitchFamily="34" charset="0"/>
                <a:ea typeface="Calibri" pitchFamily="34" charset="-122"/>
                <a:cs typeface="Calibri" pitchFamily="34" charset="-120"/>
              </a:rPr>
              <a:t>VCE Systems Engineering  |  School-assessed Task</a:t>
            </a:r>
            <a:endParaRPr lang="en-US" sz="900" dirty="0"/>
          </a:p>
        </p:txBody>
      </p:sp>
      <p:sp>
        <p:nvSpPr>
          <p:cNvPr id="5" name="Text 3"/>
          <p:cNvSpPr/>
          <p:nvPr/>
        </p:nvSpPr>
        <p:spPr>
          <a:xfrm>
            <a:off x="11247120" y="6510528"/>
            <a:ext cx="457200" cy="274320"/>
          </a:xfrm>
          <a:prstGeom prst="rect">
            <a:avLst/>
          </a:prstGeom>
          <a:noFill/>
          <a:ln/>
        </p:spPr>
        <p:txBody>
          <a:bodyPr wrap="square" lIns="0" tIns="0" rIns="0" bIns="0" rtlCol="0" anchor="ctr"/>
          <a:lstStyle/>
          <a:p>
            <a:pPr algn="r" indent="0" marL="0">
              <a:buNone/>
            </a:pPr>
            <a:r>
              <a:rPr lang="en-US" sz="900" dirty="0">
                <a:solidFill>
                  <a:srgbClr val="5B7370"/>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48640" y="1600200"/>
            <a:ext cx="11091672" cy="4663440"/>
          </a:xfrm>
          <a:prstGeom prst="rect">
            <a:avLst/>
          </a:prstGeom>
          <a:noFill/>
          <a:ln/>
        </p:spPr>
        <p:txBody>
          <a:bodyPr wrap="square" lIns="0" tIns="0" rIns="0" bIns="0" rtlCol="0" anchor="t"/>
          <a:lstStyle/>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Betz, A. (1966). Introduction to the theory of flow machines. Pergamon Press.</a:t>
            </a:r>
            <a:endParaRPr lang="en-US" sz="1200" dirty="0"/>
          </a:p>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Budynas, R. G., &amp; Nisbett, J. K. (2020). Shigley's mechanical engineering design (11th ed.). McGraw-Hill Education.</a:t>
            </a:r>
            <a:endParaRPr lang="en-US" sz="1200" dirty="0"/>
          </a:p>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Bureau of Meteorology. (2024). Climate data online: Mean wind speed. Australian Government. http://www.bom.gov.au/climate/data/</a:t>
            </a:r>
            <a:endParaRPr lang="en-US" sz="1200" dirty="0"/>
          </a:p>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Clean Energy Council. (2024). Clean energy Australia report 2024. https://www.cleanenergycouncil.org.au/resources/resources-hub/clean-energy-australia-report</a:t>
            </a:r>
            <a:endParaRPr lang="en-US" sz="1200" dirty="0"/>
          </a:p>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Department of Climate Change, Energy, the Environment and Water. (2024). Australian energy update 2024. Australian Government. https://www.energy.gov.au/publications/australian-energy-update-2024</a:t>
            </a:r>
            <a:endParaRPr lang="en-US" sz="1200" dirty="0"/>
          </a:p>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Hau, E. (2013). Wind turbines: Fundamentals, technologies, application, economics (3rd ed.). Springer.</a:t>
            </a:r>
            <a:endParaRPr lang="en-US" sz="1200" dirty="0"/>
          </a:p>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Manwell, J. F., McGowan, J. G., &amp; Rogers, A. L. (2009). Wind energy explained: Theory, design and application (2nd ed.). John Wiley &amp; Sons.</a:t>
            </a:r>
            <a:endParaRPr lang="en-US" sz="1200" dirty="0"/>
          </a:p>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Safe Work Australia. (2020). Model code of practice: How to manage work health and safety risks. https://www.safeworkaustralia.gov.au/doc/model-code-practice-how-manage-work-health-and-safety-risks</a:t>
            </a:r>
            <a:endParaRPr lang="en-US" sz="1200" dirty="0"/>
          </a:p>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Standards Australia. (2018). AS/NZS 3000:2018 Electrical installations (known as the Australian/New Zealand wiring rules). Standards Australia.</a:t>
            </a:r>
            <a:endParaRPr lang="en-US" sz="1200" dirty="0"/>
          </a:p>
          <a:p>
            <a:pPr indent="0" marL="0">
              <a:spcAft>
                <a:spcPts val="1200"/>
              </a:spcAft>
              <a:buNone/>
            </a:pPr>
            <a:r>
              <a:rPr lang="en-US" sz="1200" dirty="0">
                <a:solidFill>
                  <a:srgbClr val="16302E"/>
                </a:solidFill>
                <a:latin typeface="Calibri" pitchFamily="34" charset="0"/>
                <a:ea typeface="Calibri" pitchFamily="34" charset="-122"/>
                <a:cs typeface="Calibri" pitchFamily="34" charset="-120"/>
              </a:rPr>
              <a:t>Victorian Curriculum and Assessment Authority. (n.d.). VCE Systems Engineering. https://www.vcaa.vic.edu.au/curriculum/vce/vce-study-designs/systemsengineering/Pages/Index.aspx</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Small-Scale Wind Turbine Generator - VCE Systems Engineering SAT</dc:title>
  <dc:subject>PptxGenJS Presentation</dc:subject>
  <dc:creator>PptxGenJS</dc:creator>
  <cp:lastModifiedBy>PptxGenJS</cp:lastModifiedBy>
  <cp:revision>1</cp:revision>
  <dcterms:created xsi:type="dcterms:W3CDTF">2026-07-28T03:37:46Z</dcterms:created>
  <dcterms:modified xsi:type="dcterms:W3CDTF">2026-07-28T03:37:46Z</dcterms:modified>
</cp:coreProperties>
</file>